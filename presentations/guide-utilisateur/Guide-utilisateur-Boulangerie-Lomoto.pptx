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75d789a1617457a" /><Relationship Type="http://schemas.openxmlformats.org/officeDocument/2006/relationships/extended-properties" Target="/docProps/app.xml" Id="R55dd8f5eb4b44a9f" /><Relationship Type="http://schemas.openxmlformats.org/officeDocument/2006/relationships/officeDocument" Target="/ppt/presentation.xml" Id="Rfacf8e47dcea47e5" /></Relationships>
</file>

<file path=ppt/presentation.xml><?xml version="1.0" encoding="utf-8"?>
<p:presentation xmlns:p="http://schemas.openxmlformats.org/presentationml/2006/main">
  <p:sldMasterIdLst>
    <p:sldMasterId xmlns:r="http://schemas.openxmlformats.org/officeDocument/2006/relationships" id="2147483648" r:id="R1031f72a15e34fbd"/>
  </p:sldMasterIdLst>
  <p:notesMasterIdLst>
    <p:notesMasterId xmlns:r="http://schemas.openxmlformats.org/officeDocument/2006/relationships" r:id="Ra707e5bcbbc7451d"/>
  </p:notesMasterIdLst>
  <p:sldIdLst>
    <p:sldId xmlns:r="http://schemas.openxmlformats.org/officeDocument/2006/relationships" id="256" r:id="R59a5d109a3864a19"/>
    <p:sldId xmlns:r="http://schemas.openxmlformats.org/officeDocument/2006/relationships" id="257" r:id="Rba22dd05e40f476c"/>
    <p:sldId xmlns:r="http://schemas.openxmlformats.org/officeDocument/2006/relationships" id="258" r:id="R19c64d0592a64981"/>
    <p:sldId xmlns:r="http://schemas.openxmlformats.org/officeDocument/2006/relationships" id="259" r:id="R20864ae3016f4e37"/>
    <p:sldId xmlns:r="http://schemas.openxmlformats.org/officeDocument/2006/relationships" id="260" r:id="Rd1dd4d38c96a49be"/>
    <p:sldId xmlns:r="http://schemas.openxmlformats.org/officeDocument/2006/relationships" id="261" r:id="R5b8e43e09a5c4e48"/>
    <p:sldId xmlns:r="http://schemas.openxmlformats.org/officeDocument/2006/relationships" id="262" r:id="R5700e27a91114564"/>
    <p:sldId xmlns:r="http://schemas.openxmlformats.org/officeDocument/2006/relationships" id="263" r:id="R0d4ee96dd5254528"/>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1031f72a15e34fbd" /><Relationship Type="http://schemas.openxmlformats.org/officeDocument/2006/relationships/theme" Target="/ppt/theme/theme1.xml" Id="R6fcd14a50ddf450d" /><Relationship Type="http://schemas.openxmlformats.org/officeDocument/2006/relationships/notesMaster" Target="/ppt/notesMasters/notesMaster1.xml" Id="Ra707e5bcbbc7451d" /><Relationship Type="http://schemas.openxmlformats.org/officeDocument/2006/relationships/presProps" Target="/ppt/presProps.xml" Id="R82f614555f6e4cd8" /><Relationship Type="http://schemas.openxmlformats.org/officeDocument/2006/relationships/viewProps" Target="/ppt/viewProps.xml" Id="R6549bfada7864ade" /><Relationship Type="http://schemas.openxmlformats.org/officeDocument/2006/relationships/tableStyles" Target="/ppt/tableStyles.xml" Id="R44f845b5e0ed4733" /><Relationship Type="http://schemas.openxmlformats.org/officeDocument/2006/relationships/slide" Target="/ppt/slides/slide1.xml" Id="R59a5d109a3864a19" /><Relationship Type="http://schemas.openxmlformats.org/officeDocument/2006/relationships/slide" Target="/ppt/slides/slide2.xml" Id="Rba22dd05e40f476c" /><Relationship Type="http://schemas.openxmlformats.org/officeDocument/2006/relationships/slide" Target="/ppt/slides/slide3.xml" Id="R19c64d0592a64981" /><Relationship Type="http://schemas.openxmlformats.org/officeDocument/2006/relationships/slide" Target="/ppt/slides/slide4.xml" Id="R20864ae3016f4e37" /><Relationship Type="http://schemas.openxmlformats.org/officeDocument/2006/relationships/slide" Target="/ppt/slides/slide5.xml" Id="Rd1dd4d38c96a49be" /><Relationship Type="http://schemas.openxmlformats.org/officeDocument/2006/relationships/slide" Target="/ppt/slides/slide6.xml" Id="R5b8e43e09a5c4e48" /><Relationship Type="http://schemas.openxmlformats.org/officeDocument/2006/relationships/slide" Target="/ppt/slides/slide7.xml" Id="R5700e27a91114564" /><Relationship Type="http://schemas.openxmlformats.org/officeDocument/2006/relationships/slide" Target="/ppt/slides/slide8.xml" Id="R0d4ee96dd52545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348c01027a494b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d196bd1fea489f" /><Relationship Type="http://schemas.openxmlformats.org/officeDocument/2006/relationships/notesMaster" Target="/ppt/notesMasters/notesMaster1.xml" Id="R76a43698b9ac40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04f7f3f786b24878" /><Relationship Type="http://schemas.openxmlformats.org/officeDocument/2006/relationships/notesMaster" Target="/ppt/notesMasters/notesMaster1.xml" Id="Rd357b39d99d549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9a4bce73634498" /><Relationship Type="http://schemas.openxmlformats.org/officeDocument/2006/relationships/notesMaster" Target="/ppt/notesMasters/notesMaster1.xml" Id="R05bd3e70f8894b8c" /></Relationships>
</file>

<file path=ppt/notesSlides/_rels/notesSlide4.xml.rels>&#65279;<?xml version="1.0" encoding="utf-8"?><Relationships xmlns="http://schemas.openxmlformats.org/package/2006/relationships"><Relationship Type="http://schemas.openxmlformats.org/officeDocument/2006/relationships/slide" Target="/ppt/slides/slide4.xml" Id="R824cb914b5534f5f" /><Relationship Type="http://schemas.openxmlformats.org/officeDocument/2006/relationships/notesMaster" Target="/ppt/notesMasters/notesMaster1.xml" Id="R0c08cc1876bc4e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0697acac8d42dc" /><Relationship Type="http://schemas.openxmlformats.org/officeDocument/2006/relationships/notesMaster" Target="/ppt/notesMasters/notesMaster1.xml" Id="R39f22c007dbd44ea" /></Relationships>
</file>

<file path=ppt/notesSlides/_rels/notesSlide6.xml.rels>&#65279;<?xml version="1.0" encoding="utf-8"?><Relationships xmlns="http://schemas.openxmlformats.org/package/2006/relationships"><Relationship Type="http://schemas.openxmlformats.org/officeDocument/2006/relationships/slide" Target="/ppt/slides/slide6.xml" Id="Rc03f648347144aae" /><Relationship Type="http://schemas.openxmlformats.org/officeDocument/2006/relationships/notesMaster" Target="/ppt/notesMasters/notesMaster1.xml" Id="Rf9c7353bcac840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c2737d6776904680" /><Relationship Type="http://schemas.openxmlformats.org/officeDocument/2006/relationships/notesMaster" Target="/ppt/notesMasters/notesMaster1.xml" Id="R5902c772c504421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a38b0cee5924e3b" /><Relationship Type="http://schemas.openxmlformats.org/officeDocument/2006/relationships/notesMaster" Target="/ppt/notesMasters/notesMaster1.xml" Id="R062bdd8e614c449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d'ouverture du guide utilisateur Boulangerie Lomoto.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Saisir l'identifiant et le mot de passe fournis par l'administrateur. Chaque profil ouvre uniquement les modules autorisés. Le mot de passe reste masqué pendant la saisie pour protéger le compte. Après validation, l'application ouvre directement le tableau de bord correspondant au rôle.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boutons donnent accès aux modules : caisse, stock, commandes, commissions et utilisateurs. Le résumé affiche les chiffres clés du jour et l'état général de l'activité. La zone sécurité permet de changer son mot de passe. Les actions de sauvegarde, de restauration et de rapports sont disponibles depuis le même écran.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Renseigner le nom complet, l'identifiant, le mot de passe et le rôle. Le bouton Afficher permet de contrôler la saisie du mot de passe. La liste à droite permet de rechercher, modifier ou supprimer un compte existant. Seul l'administrateur accède à ce formulaire.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partie supérieure affiche le stock du jour : ouverture et clôture. Le formulaire de sortie enregistre les quantités utilisées pour la farine, la levure, le sel et l'huile. L'historique permet de retrouver rapidement les opérations déjà saisies. Le bouton Paramètres sert à définir les quantités initiales de référence.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Saisir la date, le client, le statut, le nombre de bacs et les montants. L'application calcule et mémorise les dettes à partir des montants à percevoir et reçus. Le tableau historique aide à suivre toutes les commandes du jour ou des jours précédents. Les données de commandes alimentent ensuite la caisse, les commissions et les rapports.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caisse reprend les montants attendus, reçus, les dettes et les dépenses du jour. Les commissions sont calculées à partir des commandes et peuvent être suivies par nom. Les tableaux historiques facilitent le contrôle et les corrections. Ces modules servent de base aux synthèses et aux exports.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Choisir la date puis lancer la génération du rapport souhaité. Le contenu du rapport s'adapte automatiquement au rôle de l'utilisateur connecté. Le PDF est pratique pour l'impression et l'archivage. Le format Excel facilite le partage, les calculs et les analyses complémentaires.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4016db4d0864e08"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1" name="Title 1">
            <a:extLst xmlns:a="http://schemas.openxmlformats.org/drawingml/2006/main">
              <a:ext uri="{FF2B5EF4-FFF2-40B4-BE49-F238E27FC236}">
                <a16:creationId xmlns:a16="http://schemas.microsoft.com/office/drawing/2014/main" id="{5C13937C-DD16-4CBB-B2E1-ACC1CAE4B664}"/>
              </a:ext>
            </a:extLst>
          </p:cNvPr>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p:txBody>
      </p:sp>
      <p:sp>
        <p:nvSpPr>
          <p:cNvPr id="2" name="Subtitle 2">
            <a:extLst xmlns:a="http://schemas.openxmlformats.org/drawingml/2006/main">
              <a:ext uri="{FF2B5EF4-FFF2-40B4-BE49-F238E27FC236}">
                <a16:creationId xmlns:a16="http://schemas.microsoft.com/office/drawing/2014/main" id="{CC1C05D9-1E4A-444A-9F81-E43F7204DCEC}"/>
              </a:ext>
            </a:extLst>
          </p:cNvPr>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p:txBody>
      </p:sp>
      <p:sp>
        <p:nvSpPr>
          <p:cNvPr id="3" name="Date Placeholder 3">
            <a:extLst xmlns:a="http://schemas.openxmlformats.org/drawingml/2006/main">
              <a:ext uri="{FF2B5EF4-FFF2-40B4-BE49-F238E27FC236}">
                <a16:creationId xmlns:a16="http://schemas.microsoft.com/office/drawing/2014/main" id="{0623EF5B-1CAB-4236-88B3-6C427042DF3F}"/>
              </a:ext>
            </a:extLst>
          </p:cNvPr>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4">
            <a:extLst xmlns:a="http://schemas.openxmlformats.org/drawingml/2006/main">
              <a:ext uri="{FF2B5EF4-FFF2-40B4-BE49-F238E27FC236}">
                <a16:creationId xmlns:a16="http://schemas.microsoft.com/office/drawing/2014/main" id="{52334A09-74C1-483D-84A9-403184CDF80B}"/>
              </a:ext>
            </a:extLst>
          </p:cNvPr>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5">
            <a:extLst xmlns:a="http://schemas.openxmlformats.org/drawingml/2006/main">
              <a:ext uri="{FF2B5EF4-FFF2-40B4-BE49-F238E27FC236}">
                <a16:creationId xmlns:a16="http://schemas.microsoft.com/office/drawing/2014/main" id="{BE13A687-EC78-4065-AFFB-4DD48DF970EF}"/>
              </a:ext>
            </a:extLst>
          </p:cNvPr>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198fbcf782ba4d12" /><Relationship Type="http://schemas.openxmlformats.org/officeDocument/2006/relationships/slideLayout" Target="/ppt/slideLayouts/slideLayout2.xml" Id="R1f0bb5f168df44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6AE7FE9B-3915-437A-9327-E3FC3F2677CC}"/>
              </a:ext>
            </a:extLst>
          </p:cNvPr>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82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0bb5f168df44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b8fabb56e5534d16" /><Relationship Type="http://schemas.openxmlformats.org/officeDocument/2006/relationships/image" Target="/ppt/media/image.png" Id="R86b26b710e484933" /><Relationship Type="http://schemas.openxmlformats.org/officeDocument/2006/relationships/image" Target="/ppt/media/image2.png" Id="Rdad740e7425a47f5" /><Relationship Type="http://schemas.openxmlformats.org/officeDocument/2006/relationships/image" Target="/ppt/media/image3.png" Id="R1dfc240aaa22493d" /><Relationship Type="http://schemas.openxmlformats.org/officeDocument/2006/relationships/image" Target="/ppt/media/image4.png" Id="Re83c6c9ff9a44b8a" /><Relationship Type="http://schemas.openxmlformats.org/officeDocument/2006/relationships/notesSlide" Target="/ppt/notesSlides/notesSlide1.xml" Id="R410a0aa9bf084fe0"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c6e6fa3de64f471d" /><Relationship Type="http://schemas.openxmlformats.org/officeDocument/2006/relationships/image" Target="/ppt/media/image5.png" Id="Rc4b8abc8fc494089" /><Relationship Type="http://schemas.openxmlformats.org/officeDocument/2006/relationships/notesSlide" Target="/ppt/notesSlides/notesSlide2.xml" Id="Rdcc740ff212d408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95199cc5d1ea46c2" /><Relationship Type="http://schemas.openxmlformats.org/officeDocument/2006/relationships/image" Target="/ppt/media/image6.png" Id="R1fd9b47e88254228" /><Relationship Type="http://schemas.openxmlformats.org/officeDocument/2006/relationships/notesSlide" Target="/ppt/notesSlides/notesSlide3.xml" Id="R43ae8a3949af4c0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6bde7b5ebd44fd9" /><Relationship Type="http://schemas.openxmlformats.org/officeDocument/2006/relationships/image" Target="/ppt/media/image7.png" Id="Rdc5b4dfdb6aa40a6" /><Relationship Type="http://schemas.openxmlformats.org/officeDocument/2006/relationships/notesSlide" Target="/ppt/notesSlides/notesSlide4.xml" Id="Rc534cf6420ab44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7236523735924570" /><Relationship Type="http://schemas.openxmlformats.org/officeDocument/2006/relationships/image" Target="/ppt/media/image8.png" Id="R27de8421b0db4cda" /><Relationship Type="http://schemas.openxmlformats.org/officeDocument/2006/relationships/notesSlide" Target="/ppt/notesSlides/notesSlide5.xml" Id="Re72838ff1aac4c7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a7d51db65e5f4a8e" /><Relationship Type="http://schemas.openxmlformats.org/officeDocument/2006/relationships/image" Target="/ppt/media/image9.png" Id="Rdb127f2e3f844d90" /><Relationship Type="http://schemas.openxmlformats.org/officeDocument/2006/relationships/notesSlide" Target="/ppt/notesSlides/notesSlide6.xml" Id="R89bd7b70850f46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3a4f0f4e9c3e41f2" /><Relationship Type="http://schemas.openxmlformats.org/officeDocument/2006/relationships/image" Target="/ppt/media/image10.png" Id="R56c71e7318d44708" /><Relationship Type="http://schemas.openxmlformats.org/officeDocument/2006/relationships/image" Target="/ppt/media/image11.png" Id="Rb0a503426cfc4c77" /><Relationship Type="http://schemas.openxmlformats.org/officeDocument/2006/relationships/notesSlide" Target="/ppt/notesSlides/notesSlide7.xml" Id="R5072926556744c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24d2b0f4077f4acc" /><Relationship Type="http://schemas.openxmlformats.org/officeDocument/2006/relationships/image" Target="/ppt/media/image12.png" Id="Rd66aacdf7e35432f" /><Relationship Type="http://schemas.openxmlformats.org/officeDocument/2006/relationships/image" Target="/ppt/media/image13.png" Id="R00b47f9219a04156" /><Relationship Type="http://schemas.openxmlformats.org/officeDocument/2006/relationships/notesSlide" Target="/ppt/notesSlides/notesSlide8.xml" Id="Re4c5fda722be4037" /></Relationships>
</file>

<file path=ppt/slides/slide1.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E13A687-EC78-4065-AFFB-4DD48DF970EF}"/>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EBA3A46-1D82-4E13-8C8A-4FBA475B619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30000"/>
          </a:solidFill>
          <a:ln xmlns:a="http://schemas.openxmlformats.org/drawingml/2006/main" w="0">
            <a:solidFill>
              <a:srgbClr val="B30000"/>
            </a:solidFill>
            <a:prstDash val="solid"/>
          </a:ln>
        </p:spPr>
      </p:sp>
      <p:sp>
        <p:nvSpPr>
          <p:cNvPr id="3" name="">
            <a:extLst xmlns:a="http://schemas.openxmlformats.org/drawingml/2006/main">
              <a:ext uri="{FF2B5EF4-FFF2-40B4-BE49-F238E27FC236}">
                <a16:creationId xmlns:a16="http://schemas.microsoft.com/office/drawing/2014/main" id="{DAF3B585-0B05-402F-9228-36D72412E36A}"/>
              </a:ext>
            </a:extLst>
          </p:cNvPr>
          <p:cNvSpPr>
            <a:spLocks xmlns:a="http://schemas.openxmlformats.org/drawingml/2006/main" noGrp="1"/>
          </p:cNvSpPr>
          <p:nvPr/>
        </p:nvSpPr>
        <p:spPr>
          <a:xfrm xmlns:a="http://schemas.openxmlformats.org/drawingml/2006/main">
            <a:off x="381000" y="533400"/>
            <a:ext cx="5143500" cy="5734050"/>
          </a:xfrm>
          <a:prstGeom xmlns:a="http://schemas.openxmlformats.org/drawingml/2006/main" prst="roundRect">
            <a:avLst>
              <a:gd name="adj" fmla="val 1481"/>
            </a:avLst>
          </a:prstGeom>
          <a:solidFill xmlns:a="http://schemas.openxmlformats.org/drawingml/2006/main">
            <a:srgbClr val="FFFFFF"/>
          </a:solidFill>
          <a:ln xmlns:a="http://schemas.openxmlformats.org/drawingml/2006/main" w="9525">
            <a:solidFill>
              <a:srgbClr val="D7DFEA"/>
            </a:solidFill>
            <a:prstDash val="solid"/>
          </a:ln>
        </p:spPr>
      </p:sp>
      <p:pic>
        <p:nvPicPr>
          <p:cNvPr id="4" name=""/>
          <p:cNvPicPr>
            <a:picLocks xmlns:a="http://schemas.openxmlformats.org/drawingml/2006/main" noChangeAspect="1"/>
          </p:cNvPicPr>
          <p:nvPr/>
        </p:nvPicPr>
        <p:blipFill>
          <a:blip xmlns:r="http://schemas.openxmlformats.org/officeDocument/2006/relationships" xmlns:a="http://schemas.openxmlformats.org/drawingml/2006/main" r:embed="R86b26b710e484933"/>
          <a:stretch xmlns:a="http://schemas.openxmlformats.org/drawingml/2006/main"/>
        </p:blipFill>
        <p:spPr>
          <a:xfrm xmlns:a="http://schemas.openxmlformats.org/drawingml/2006/main">
            <a:off x="628650" y="800100"/>
            <a:ext cx="1143000" cy="114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5A78142-7EF5-4588-AAED-9DCD972AB0D4}"/>
              </a:ext>
            </a:extLst>
          </p:cNvPr>
          <p:cNvSpPr>
            <a:spLocks xmlns:a="http://schemas.openxmlformats.org/drawingml/2006/main" noGrp="1"/>
          </p:cNvSpPr>
          <p:nvPr/>
        </p:nvSpPr>
        <p:spPr>
          <a:xfrm xmlns:a="http://schemas.openxmlformats.org/drawingml/2006/main">
            <a:off x="628650" y="2152650"/>
            <a:ext cx="4381500" cy="5143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2550" b="1">
                <a:solidFill>
                  <a:srgbClr val="B30000"/>
                </a:solidFill>
              </a:defRPr>
            </a:pPr>
            <a:r>
              <a:rPr sz="2550" b="1">
                <a:solidFill>
                  <a:srgbClr val="B30000"/>
                </a:solidFill>
              </a:rPr>
              <a:t>Guide utilisateur</a:t>
            </a:r>
          </a:p>
        </p:txBody>
      </p:sp>
      <p:sp>
        <p:nvSpPr>
          <p:cNvPr id="6" name="">
            <a:extLst xmlns:a="http://schemas.openxmlformats.org/drawingml/2006/main">
              <a:ext uri="{FF2B5EF4-FFF2-40B4-BE49-F238E27FC236}">
                <a16:creationId xmlns:a16="http://schemas.microsoft.com/office/drawing/2014/main" id="{CE8A1A87-217B-4C03-9FB4-9DEBF997580E}"/>
              </a:ext>
            </a:extLst>
          </p:cNvPr>
          <p:cNvSpPr>
            <a:spLocks xmlns:a="http://schemas.openxmlformats.org/drawingml/2006/main" noGrp="1"/>
          </p:cNvSpPr>
          <p:nvPr/>
        </p:nvSpPr>
        <p:spPr>
          <a:xfrm xmlns:a="http://schemas.openxmlformats.org/drawingml/2006/main">
            <a:off x="628650" y="2647950"/>
            <a:ext cx="40957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650" b="1">
                <a:solidFill>
                  <a:srgbClr val="123B6B"/>
                </a:solidFill>
              </a:defRPr>
            </a:pPr>
            <a:r>
              <a:rPr sz="1650" b="1">
                <a:solidFill>
                  <a:srgbClr val="123B6B"/>
                </a:solidFill>
              </a:rPr>
              <a:t>Boulangerie Lomoto</a:t>
            </a:r>
          </a:p>
        </p:txBody>
      </p:sp>
      <p:sp>
        <p:nvSpPr>
          <p:cNvPr id="7" name="">
            <a:extLst xmlns:a="http://schemas.openxmlformats.org/drawingml/2006/main">
              <a:ext uri="{FF2B5EF4-FFF2-40B4-BE49-F238E27FC236}">
                <a16:creationId xmlns:a16="http://schemas.microsoft.com/office/drawing/2014/main" id="{54DD1344-607D-4664-AFE4-7BAE7FE95713}"/>
              </a:ext>
            </a:extLst>
          </p:cNvPr>
          <p:cNvSpPr>
            <a:spLocks xmlns:a="http://schemas.openxmlformats.org/drawingml/2006/main" noGrp="1"/>
          </p:cNvSpPr>
          <p:nvPr/>
        </p:nvSpPr>
        <p:spPr>
          <a:xfrm xmlns:a="http://schemas.openxmlformats.org/drawingml/2006/main">
            <a:off x="628650" y="3162300"/>
            <a:ext cx="4248150" cy="1181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350" b="0">
                <a:solidFill>
                  <a:srgbClr val="1D2939"/>
                </a:solidFill>
              </a:defRPr>
            </a:pPr>
            <a:r>
              <a:rPr sz="1350" b="0">
                <a:solidFill>
                  <a:srgbClr val="1D2939"/>
                </a:solidFill>
              </a:rPr>
              <a:t>Une présentation simple pour aider chaque utilisateur à comprendre les écrans, les modules et les actions essentielles de l'application.</a:t>
            </a:r>
          </a:p>
        </p:txBody>
      </p:sp>
      <p:sp>
        <p:nvSpPr>
          <p:cNvPr id="8" name="">
            <a:extLst xmlns:a="http://schemas.openxmlformats.org/drawingml/2006/main">
              <a:ext uri="{FF2B5EF4-FFF2-40B4-BE49-F238E27FC236}">
                <a16:creationId xmlns:a16="http://schemas.microsoft.com/office/drawing/2014/main" id="{E9D819C3-93A1-4BCA-B97A-6DEEB437C9C6}"/>
              </a:ext>
            </a:extLst>
          </p:cNvPr>
          <p:cNvSpPr>
            <a:spLocks xmlns:a="http://schemas.openxmlformats.org/drawingml/2006/main" noGrp="1"/>
          </p:cNvSpPr>
          <p:nvPr/>
        </p:nvSpPr>
        <p:spPr>
          <a:xfrm xmlns:a="http://schemas.openxmlformats.org/drawingml/2006/main">
            <a:off x="628650" y="4762500"/>
            <a:ext cx="1428750" cy="323850"/>
          </a:xfrm>
          <a:prstGeom xmlns:a="http://schemas.openxmlformats.org/drawingml/2006/main" prst="rect">
            <a:avLst/>
          </a:prstGeom>
          <a:solidFill xmlns:a="http://schemas.openxmlformats.org/drawingml/2006/main">
            <a:srgbClr val="FDEAEA"/>
          </a:solidFill>
          <a:ln xmlns:a="http://schemas.openxmlformats.org/drawingml/2006/main" w="9525">
            <a:solidFill>
              <a:srgbClr val="F6CCCC"/>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975" b="1">
                <a:solidFill>
                  <a:srgbClr val="127A57"/>
                </a:solidFill>
              </a:defRPr>
            </a:pPr>
            <a:r>
              <a:rPr sz="975" b="1">
                <a:solidFill>
                  <a:srgbClr val="127A57"/>
                </a:solidFill>
              </a:rPr>
              <a:t>Connexion sécurisée</a:t>
            </a:r>
          </a:p>
        </p:txBody>
      </p:sp>
      <p:sp>
        <p:nvSpPr>
          <p:cNvPr id="9" name="">
            <a:extLst xmlns:a="http://schemas.openxmlformats.org/drawingml/2006/main">
              <a:ext uri="{FF2B5EF4-FFF2-40B4-BE49-F238E27FC236}">
                <a16:creationId xmlns:a16="http://schemas.microsoft.com/office/drawing/2014/main" id="{DAFC6676-B4E5-4A6B-BA7D-842CAD6A8085}"/>
              </a:ext>
            </a:extLst>
          </p:cNvPr>
          <p:cNvSpPr>
            <a:spLocks xmlns:a="http://schemas.openxmlformats.org/drawingml/2006/main" noGrp="1"/>
          </p:cNvSpPr>
          <p:nvPr/>
        </p:nvSpPr>
        <p:spPr>
          <a:xfrm xmlns:a="http://schemas.openxmlformats.org/drawingml/2006/main">
            <a:off x="2247900" y="4762500"/>
            <a:ext cx="1428750" cy="323850"/>
          </a:xfrm>
          <a:prstGeom xmlns:a="http://schemas.openxmlformats.org/drawingml/2006/main" prst="rect">
            <a:avLst/>
          </a:prstGeom>
          <a:solidFill xmlns:a="http://schemas.openxmlformats.org/drawingml/2006/main">
            <a:srgbClr val="FDEAEA"/>
          </a:solidFill>
          <a:ln xmlns:a="http://schemas.openxmlformats.org/drawingml/2006/main" w="9525">
            <a:solidFill>
              <a:srgbClr val="F6CCCC"/>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975" b="1">
                <a:solidFill>
                  <a:srgbClr val="127A57"/>
                </a:solidFill>
              </a:defRPr>
            </a:pPr>
            <a:r>
              <a:rPr sz="975" b="1">
                <a:solidFill>
                  <a:srgbClr val="127A57"/>
                </a:solidFill>
              </a:rPr>
              <a:t>Gestion quotidienne</a:t>
            </a:r>
          </a:p>
        </p:txBody>
      </p:sp>
      <p:sp>
        <p:nvSpPr>
          <p:cNvPr id="10" name="">
            <a:extLst xmlns:a="http://schemas.openxmlformats.org/drawingml/2006/main">
              <a:ext uri="{FF2B5EF4-FFF2-40B4-BE49-F238E27FC236}">
                <a16:creationId xmlns:a16="http://schemas.microsoft.com/office/drawing/2014/main" id="{55FA92B4-763A-4129-A562-2EA60A14C845}"/>
              </a:ext>
            </a:extLst>
          </p:cNvPr>
          <p:cNvSpPr>
            <a:spLocks xmlns:a="http://schemas.openxmlformats.org/drawingml/2006/main" noGrp="1"/>
          </p:cNvSpPr>
          <p:nvPr/>
        </p:nvSpPr>
        <p:spPr>
          <a:xfrm xmlns:a="http://schemas.openxmlformats.org/drawingml/2006/main">
            <a:off x="3867150" y="4762500"/>
            <a:ext cx="1428750" cy="323850"/>
          </a:xfrm>
          <a:prstGeom xmlns:a="http://schemas.openxmlformats.org/drawingml/2006/main" prst="rect">
            <a:avLst/>
          </a:prstGeom>
          <a:solidFill xmlns:a="http://schemas.openxmlformats.org/drawingml/2006/main">
            <a:srgbClr val="FDEAEA"/>
          </a:solidFill>
          <a:ln xmlns:a="http://schemas.openxmlformats.org/drawingml/2006/main" w="9525">
            <a:solidFill>
              <a:srgbClr val="F6CCCC"/>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ctr">
              <a:defRPr sz="975" b="1">
                <a:solidFill>
                  <a:srgbClr val="127A57"/>
                </a:solidFill>
              </a:defRPr>
            </a:pPr>
            <a:r>
              <a:rPr sz="975" b="1">
                <a:solidFill>
                  <a:srgbClr val="127A57"/>
                </a:solidFill>
              </a:rPr>
              <a:t>Rapports rapides</a:t>
            </a:r>
          </a:p>
        </p:txBody>
      </p:sp>
      <p:sp>
        <p:nvSpPr>
          <p:cNvPr id="11" name="">
            <a:extLst xmlns:a="http://schemas.openxmlformats.org/drawingml/2006/main">
              <a:ext uri="{FF2B5EF4-FFF2-40B4-BE49-F238E27FC236}">
                <a16:creationId xmlns:a16="http://schemas.microsoft.com/office/drawing/2014/main" id="{DFA28331-C829-40F2-83E0-18ED66573106}"/>
              </a:ext>
            </a:extLst>
          </p:cNvPr>
          <p:cNvSpPr>
            <a:spLocks xmlns:a="http://schemas.openxmlformats.org/drawingml/2006/main" noGrp="1"/>
          </p:cNvSpPr>
          <p:nvPr/>
        </p:nvSpPr>
        <p:spPr>
          <a:xfrm xmlns:a="http://schemas.openxmlformats.org/drawingml/2006/main">
            <a:off x="628650" y="5372100"/>
            <a:ext cx="4248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0">
                <a:solidFill>
                  <a:srgbClr val="667085"/>
                </a:solidFill>
              </a:defRPr>
            </a:pPr>
            <a:r>
              <a:rPr sz="1200" b="0">
                <a:solidFill>
                  <a:srgbClr val="667085"/>
                </a:solidFill>
              </a:rPr>
              <a:t>Présentation de prise en main destinée aux utilisateurs de la boulangerie.</a:t>
            </a:r>
          </a:p>
        </p:txBody>
      </p:sp>
      <p:sp>
        <p:nvSpPr>
          <p:cNvPr id="12" name="">
            <a:extLst xmlns:a="http://schemas.openxmlformats.org/drawingml/2006/main">
              <a:ext uri="{FF2B5EF4-FFF2-40B4-BE49-F238E27FC236}">
                <a16:creationId xmlns:a16="http://schemas.microsoft.com/office/drawing/2014/main" id="{6C4F6914-A92B-42EC-8CA1-FCC9DCCE6A86}"/>
              </a:ext>
            </a:extLst>
          </p:cNvPr>
          <p:cNvSpPr>
            <a:spLocks xmlns:a="http://schemas.openxmlformats.org/drawingml/2006/main" noGrp="1"/>
          </p:cNvSpPr>
          <p:nvPr/>
        </p:nvSpPr>
        <p:spPr>
          <a:xfrm xmlns:a="http://schemas.openxmlformats.org/drawingml/2006/main" rot="-120000">
            <a:off x="6210300" y="819150"/>
            <a:ext cx="5524500" cy="1733550"/>
          </a:xfrm>
          <a:prstGeom xmlns:a="http://schemas.openxmlformats.org/drawingml/2006/main" prst="roundRect">
            <a:avLst>
              <a:gd name="adj" fmla="val 4396"/>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13" name="">
            <a:extLst xmlns:a="http://schemas.openxmlformats.org/drawingml/2006/main">
              <a:ext uri="{FF2B5EF4-FFF2-40B4-BE49-F238E27FC236}">
                <a16:creationId xmlns:a16="http://schemas.microsoft.com/office/drawing/2014/main" id="{461FE54F-D8D2-4D82-8A6B-E1B6FF5D88EA}"/>
              </a:ext>
            </a:extLst>
          </p:cNvPr>
          <p:cNvSpPr>
            <a:spLocks xmlns:a="http://schemas.openxmlformats.org/drawingml/2006/main" noGrp="1"/>
          </p:cNvSpPr>
          <p:nvPr/>
        </p:nvSpPr>
        <p:spPr>
          <a:xfrm xmlns:a="http://schemas.openxmlformats.org/drawingml/2006/main" rot="-120000">
            <a:off x="6115050" y="723900"/>
            <a:ext cx="552450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D7DFEA"/>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dad740e7425a47f5"/>
          <a:srcRect xmlns:a="http://schemas.openxmlformats.org/drawingml/2006/main" l="0" t="26518" r="0" b="26518"/>
          <a:stretch xmlns:a="http://schemas.openxmlformats.org/drawingml/2006/main">
            <a:fillRect l="0" t="0" r="0" b="0"/>
          </a:stretch>
        </p:blipFill>
        <p:spPr>
          <a:xfrm xmlns:a="http://schemas.openxmlformats.org/drawingml/2006/main" rot="-120000">
            <a:off x="6210300" y="819150"/>
            <a:ext cx="5334000" cy="15430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A7EC9ABD-C892-4C31-9EA4-4E3BD08E38DE}"/>
              </a:ext>
            </a:extLst>
          </p:cNvPr>
          <p:cNvSpPr>
            <a:spLocks xmlns:a="http://schemas.openxmlformats.org/drawingml/2006/main" noGrp="1"/>
          </p:cNvSpPr>
          <p:nvPr/>
        </p:nvSpPr>
        <p:spPr>
          <a:xfrm xmlns:a="http://schemas.openxmlformats.org/drawingml/2006/main" rot="90000">
            <a:off x="5905500" y="2609850"/>
            <a:ext cx="5810250" cy="1809750"/>
          </a:xfrm>
          <a:prstGeom xmlns:a="http://schemas.openxmlformats.org/drawingml/2006/main" prst="roundRect">
            <a:avLst>
              <a:gd name="adj" fmla="val 4211"/>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16" name="">
            <a:extLst xmlns:a="http://schemas.openxmlformats.org/drawingml/2006/main">
              <a:ext uri="{FF2B5EF4-FFF2-40B4-BE49-F238E27FC236}">
                <a16:creationId xmlns:a16="http://schemas.microsoft.com/office/drawing/2014/main" id="{EAF5B972-051F-425B-9B52-B624E5D96082}"/>
              </a:ext>
            </a:extLst>
          </p:cNvPr>
          <p:cNvSpPr>
            <a:spLocks xmlns:a="http://schemas.openxmlformats.org/drawingml/2006/main" noGrp="1"/>
          </p:cNvSpPr>
          <p:nvPr/>
        </p:nvSpPr>
        <p:spPr>
          <a:xfrm xmlns:a="http://schemas.openxmlformats.org/drawingml/2006/main" rot="90000">
            <a:off x="5810250" y="2514600"/>
            <a:ext cx="5810250" cy="1809750"/>
          </a:xfrm>
          <a:prstGeom xmlns:a="http://schemas.openxmlformats.org/drawingml/2006/main" prst="roundRect">
            <a:avLst>
              <a:gd name="adj" fmla="val 4211"/>
            </a:avLst>
          </a:prstGeom>
          <a:solidFill xmlns:a="http://schemas.openxmlformats.org/drawingml/2006/main">
            <a:srgbClr val="FFFFFF"/>
          </a:solidFill>
          <a:ln xmlns:a="http://schemas.openxmlformats.org/drawingml/2006/main" w="9525">
            <a:solidFill>
              <a:srgbClr val="D7DFEA"/>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1dfc240aaa22493d"/>
          <a:srcRect xmlns:a="http://schemas.openxmlformats.org/drawingml/2006/main" l="0" t="36942" r="0" b="36942"/>
          <a:stretch xmlns:a="http://schemas.openxmlformats.org/drawingml/2006/main">
            <a:fillRect l="0" t="0" r="0" b="0"/>
          </a:stretch>
        </p:blipFill>
        <p:spPr>
          <a:xfrm xmlns:a="http://schemas.openxmlformats.org/drawingml/2006/main" rot="90000">
            <a:off x="5905500" y="2609850"/>
            <a:ext cx="5619750" cy="161925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77A2F540-9DA9-4FFF-8A80-A0D7449DFD2A}"/>
              </a:ext>
            </a:extLst>
          </p:cNvPr>
          <p:cNvSpPr>
            <a:spLocks xmlns:a="http://schemas.openxmlformats.org/drawingml/2006/main" noGrp="1"/>
          </p:cNvSpPr>
          <p:nvPr/>
        </p:nvSpPr>
        <p:spPr>
          <a:xfrm xmlns:a="http://schemas.openxmlformats.org/drawingml/2006/main" rot="-72000">
            <a:off x="6400800" y="4476750"/>
            <a:ext cx="5048250" cy="1733550"/>
          </a:xfrm>
          <a:prstGeom xmlns:a="http://schemas.openxmlformats.org/drawingml/2006/main" prst="roundRect">
            <a:avLst>
              <a:gd name="adj" fmla="val 4396"/>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19" name="">
            <a:extLst xmlns:a="http://schemas.openxmlformats.org/drawingml/2006/main">
              <a:ext uri="{FF2B5EF4-FFF2-40B4-BE49-F238E27FC236}">
                <a16:creationId xmlns:a16="http://schemas.microsoft.com/office/drawing/2014/main" id="{FBC1FA92-5E7E-4282-BAC6-D8CC9936F934}"/>
              </a:ext>
            </a:extLst>
          </p:cNvPr>
          <p:cNvSpPr>
            <a:spLocks xmlns:a="http://schemas.openxmlformats.org/drawingml/2006/main" noGrp="1"/>
          </p:cNvSpPr>
          <p:nvPr/>
        </p:nvSpPr>
        <p:spPr>
          <a:xfrm xmlns:a="http://schemas.openxmlformats.org/drawingml/2006/main" rot="-72000">
            <a:off x="6305550" y="4381500"/>
            <a:ext cx="5048250" cy="1733550"/>
          </a:xfrm>
          <a:prstGeom xmlns:a="http://schemas.openxmlformats.org/drawingml/2006/main" prst="roundRect">
            <a:avLst>
              <a:gd name="adj" fmla="val 4396"/>
            </a:avLst>
          </a:prstGeom>
          <a:solidFill xmlns:a="http://schemas.openxmlformats.org/drawingml/2006/main">
            <a:srgbClr val="FFFFFF"/>
          </a:solidFill>
          <a:ln xmlns:a="http://schemas.openxmlformats.org/drawingml/2006/main" w="9525">
            <a:solidFill>
              <a:srgbClr val="D7DFEA"/>
            </a:solidFill>
            <a:prstDash val="solid"/>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e83c6c9ff9a44b8a"/>
          <a:srcRect xmlns:a="http://schemas.openxmlformats.org/drawingml/2006/main" l="0" t="26307" r="0" b="26307"/>
          <a:stretch xmlns:a="http://schemas.openxmlformats.org/drawingml/2006/main">
            <a:fillRect l="0" t="0" r="0" b="0"/>
          </a:stretch>
        </p:blipFill>
        <p:spPr>
          <a:xfrm xmlns:a="http://schemas.openxmlformats.org/drawingml/2006/main" rot="-72000">
            <a:off x="6400800" y="4476750"/>
            <a:ext cx="4857750" cy="154305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829B1BA-9511-46F1-B233-BB7835BADD11}"/>
              </a:ext>
            </a:extLst>
          </p:cNvPr>
          <p:cNvSpPr>
            <a:spLocks xmlns:a="http://schemas.openxmlformats.org/drawingml/2006/main" noGrp="1"/>
          </p:cNvSpPr>
          <p:nvPr/>
        </p:nvSpPr>
        <p:spPr>
          <a:xfrm xmlns:a="http://schemas.openxmlformats.org/drawingml/2006/main">
            <a:off x="342900" y="64389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75" b="0">
                <a:solidFill>
                  <a:srgbClr val="667085"/>
                </a:solidFill>
              </a:defRPr>
            </a:pPr>
            <a:r>
              <a:rPr sz="975" b="0">
                <a:solidFill>
                  <a:srgbClr val="667085"/>
                </a:solidFill>
              </a:rPr>
              <a:t>Boulangerie Lomoto  |  Guide utilisateur</a:t>
            </a:r>
          </a:p>
        </p:txBody>
      </p:sp>
      <p:sp>
        <p:nvSpPr>
          <p:cNvPr id="22" name="">
            <a:extLst xmlns:a="http://schemas.openxmlformats.org/drawingml/2006/main">
              <a:ext uri="{FF2B5EF4-FFF2-40B4-BE49-F238E27FC236}">
                <a16:creationId xmlns:a16="http://schemas.microsoft.com/office/drawing/2014/main" id="{C7C72CEC-15C1-4B9A-977C-778B6833EB42}"/>
              </a:ext>
            </a:extLst>
          </p:cNvPr>
          <p:cNvSpPr>
            <a:spLocks xmlns:a="http://schemas.openxmlformats.org/drawingml/2006/main" noGrp="1"/>
          </p:cNvSpPr>
          <p:nvPr/>
        </p:nvSpPr>
        <p:spPr>
          <a:xfrm xmlns:a="http://schemas.openxmlformats.org/drawingml/2006/main">
            <a:off x="11239500" y="6400800"/>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r">
              <a:defRPr sz="975" b="0">
                <a:solidFill>
                  <a:srgbClr val="667085"/>
                </a:solidFill>
              </a:defRPr>
            </a:pPr>
            <a:r>
              <a:rPr sz="975" b="0">
                <a:solidFill>
                  <a:srgbClr val="667085"/>
                </a:solidFill>
              </a:rPr>
              <a:t>01</a:t>
            </a:r>
          </a:p>
        </p:txBody>
      </p:sp>
    </p:spTree>
    <p:extLst>
      <p:ext uri="{BB962C8B-B14F-4D97-AF65-F5344CB8AC3E}">
        <p14:creationId xmlns:p14="http://schemas.microsoft.com/office/powerpoint/2010/main" val="2116265346"/>
      </p:ext>
    </p:extLst>
  </p:cSld>
</p:sld>
</file>

<file path=ppt/slides/slide2.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E13A687-EC78-4065-AFFB-4DD48DF970EF}"/>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68F303D-A5FA-4FA5-8AB5-510D91A112D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30000"/>
          </a:solidFill>
          <a:ln xmlns:a="http://schemas.openxmlformats.org/drawingml/2006/main" w="0">
            <a:solidFill>
              <a:srgbClr val="B30000"/>
            </a:solidFill>
            <a:prstDash val="solid"/>
          </a:ln>
        </p:spPr>
      </p:sp>
      <p:sp>
        <p:nvSpPr>
          <p:cNvPr id="3" name="">
            <a:extLst xmlns:a="http://schemas.openxmlformats.org/drawingml/2006/main">
              <a:ext uri="{FF2B5EF4-FFF2-40B4-BE49-F238E27FC236}">
                <a16:creationId xmlns:a16="http://schemas.microsoft.com/office/drawing/2014/main" id="{408BA9A3-EB37-4484-8595-2F3C00A67FE6}"/>
              </a:ext>
            </a:extLst>
          </p:cNvPr>
          <p:cNvSpPr>
            <a:spLocks xmlns:a="http://schemas.openxmlformats.org/drawingml/2006/main" noGrp="1"/>
          </p:cNvSpPr>
          <p:nvPr/>
        </p:nvSpPr>
        <p:spPr>
          <a:xfrm xmlns:a="http://schemas.openxmlformats.org/drawingml/2006/main">
            <a:off x="381000" y="361950"/>
            <a:ext cx="6858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2100" b="1">
                <a:solidFill>
                  <a:srgbClr val="B30000"/>
                </a:solidFill>
              </a:defRPr>
            </a:pPr>
            <a:r>
              <a:rPr sz="2100" b="1">
                <a:solidFill>
                  <a:srgbClr val="B30000"/>
                </a:solidFill>
              </a:rPr>
              <a:t>1. Connexion et profils</a:t>
            </a:r>
          </a:p>
        </p:txBody>
      </p:sp>
      <p:sp>
        <p:nvSpPr>
          <p:cNvPr id="4" name="">
            <a:extLst xmlns:a="http://schemas.openxmlformats.org/drawingml/2006/main">
              <a:ext uri="{FF2B5EF4-FFF2-40B4-BE49-F238E27FC236}">
                <a16:creationId xmlns:a16="http://schemas.microsoft.com/office/drawing/2014/main" id="{9EC9556E-4F58-4022-9F09-23DB4A6714C0}"/>
              </a:ext>
            </a:extLst>
          </p:cNvPr>
          <p:cNvSpPr>
            <a:spLocks xmlns:a="http://schemas.openxmlformats.org/drawingml/2006/main" noGrp="1"/>
          </p:cNvSpPr>
          <p:nvPr/>
        </p:nvSpPr>
        <p:spPr>
          <a:xfrm xmlns:a="http://schemas.openxmlformats.org/drawingml/2006/main">
            <a:off x="381000" y="85725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1">
                <a:solidFill>
                  <a:srgbClr val="123B6B"/>
                </a:solidFill>
              </a:defRPr>
            </a:pPr>
            <a:r>
              <a:rPr sz="1200" b="1">
                <a:solidFill>
                  <a:srgbClr val="123B6B"/>
                </a:solidFill>
              </a:rPr>
              <a:t>S'identifier avant d'accéder aux modules</a:t>
            </a:r>
          </a:p>
        </p:txBody>
      </p:sp>
      <p:sp>
        <p:nvSpPr>
          <p:cNvPr id="5" name="">
            <a:extLst xmlns:a="http://schemas.openxmlformats.org/drawingml/2006/main">
              <a:ext uri="{FF2B5EF4-FFF2-40B4-BE49-F238E27FC236}">
                <a16:creationId xmlns:a16="http://schemas.microsoft.com/office/drawing/2014/main" id="{51F0B06B-D614-4DA9-8C38-36948E42D8AE}"/>
              </a:ext>
            </a:extLst>
          </p:cNvPr>
          <p:cNvSpPr>
            <a:spLocks xmlns:a="http://schemas.openxmlformats.org/drawingml/2006/main" noGrp="1"/>
          </p:cNvSpPr>
          <p:nvPr/>
        </p:nvSpPr>
        <p:spPr>
          <a:xfrm xmlns:a="http://schemas.openxmlformats.org/drawingml/2006/main">
            <a:off x="381000" y="1390650"/>
            <a:ext cx="3943350" cy="46672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9525">
            <a:solidFill>
              <a:srgbClr val="D7DFEA"/>
            </a:solidFill>
            <a:prstDash val="solid"/>
          </a:ln>
        </p:spPr>
      </p:sp>
      <p:sp>
        <p:nvSpPr>
          <p:cNvPr id="6" name="">
            <a:extLst xmlns:a="http://schemas.openxmlformats.org/drawingml/2006/main">
              <a:ext uri="{FF2B5EF4-FFF2-40B4-BE49-F238E27FC236}">
                <a16:creationId xmlns:a16="http://schemas.microsoft.com/office/drawing/2014/main" id="{8B09246A-904D-4C72-864C-A03A6D7FF352}"/>
              </a:ext>
            </a:extLst>
          </p:cNvPr>
          <p:cNvSpPr>
            <a:spLocks xmlns:a="http://schemas.openxmlformats.org/drawingml/2006/main" noGrp="1"/>
          </p:cNvSpPr>
          <p:nvPr/>
        </p:nvSpPr>
        <p:spPr>
          <a:xfrm xmlns:a="http://schemas.openxmlformats.org/drawingml/2006/main">
            <a:off x="552450" y="1524000"/>
            <a:ext cx="3600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350" b="1">
                <a:solidFill>
                  <a:srgbClr val="123B6B"/>
                </a:solidFill>
              </a:defRPr>
            </a:pPr>
            <a:r>
              <a:rPr sz="1350" b="1">
                <a:solidFill>
                  <a:srgbClr val="123B6B"/>
                </a:solidFill>
              </a:rPr>
              <a:t>À retenir</a:t>
            </a:r>
          </a:p>
        </p:txBody>
      </p:sp>
      <p:sp>
        <p:nvSpPr>
          <p:cNvPr id="7" name="">
            <a:extLst xmlns:a="http://schemas.openxmlformats.org/drawingml/2006/main">
              <a:ext uri="{FF2B5EF4-FFF2-40B4-BE49-F238E27FC236}">
                <a16:creationId xmlns:a16="http://schemas.microsoft.com/office/drawing/2014/main" id="{10469C6C-B4C2-48EB-A975-E8E00C9FBFE8}"/>
              </a:ext>
            </a:extLst>
          </p:cNvPr>
          <p:cNvSpPr>
            <a:spLocks xmlns:a="http://schemas.openxmlformats.org/drawingml/2006/main" noGrp="1"/>
          </p:cNvSpPr>
          <p:nvPr/>
        </p:nvSpPr>
        <p:spPr>
          <a:xfrm xmlns:a="http://schemas.openxmlformats.org/drawingml/2006/main">
            <a:off x="552450" y="1847850"/>
            <a:ext cx="3600450" cy="403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0">
                <a:solidFill>
                  <a:srgbClr val="1D2939"/>
                </a:solidFill>
              </a:defRPr>
            </a:pPr>
            <a:r>
              <a:rPr sz="1200" b="0">
                <a:solidFill>
                  <a:srgbClr val="1D2939"/>
                </a:solidFill>
              </a:rPr>
              <a:t>• Saisir l'identifiant et le mot de passe fournis par l'administrateur.</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Chaque profil ouvre uniquement les modules autorisés.</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 mot de passe reste masqué pendant la saisie pour protéger le compte.</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Après validation, l'application ouvre directement le tableau de bord correspondant au rôle.</a:t>
            </a:r>
          </a:p>
        </p:txBody>
      </p:sp>
      <p:sp>
        <p:nvSpPr>
          <p:cNvPr id="8" name="">
            <a:extLst xmlns:a="http://schemas.openxmlformats.org/drawingml/2006/main">
              <a:ext uri="{FF2B5EF4-FFF2-40B4-BE49-F238E27FC236}">
                <a16:creationId xmlns:a16="http://schemas.microsoft.com/office/drawing/2014/main" id="{9C1EADAC-6B1C-47CA-AC31-4EB6EA8CA5A6}"/>
              </a:ext>
            </a:extLst>
          </p:cNvPr>
          <p:cNvSpPr>
            <a:spLocks xmlns:a="http://schemas.openxmlformats.org/drawingml/2006/main" noGrp="1"/>
          </p:cNvSpPr>
          <p:nvPr/>
        </p:nvSpPr>
        <p:spPr>
          <a:xfrm xmlns:a="http://schemas.openxmlformats.org/drawingml/2006/main">
            <a:off x="4686300" y="1504950"/>
            <a:ext cx="7219950" cy="4667250"/>
          </a:xfrm>
          <a:prstGeom xmlns:a="http://schemas.openxmlformats.org/drawingml/2006/main" prst="roundRect">
            <a:avLst>
              <a:gd name="adj" fmla="val 1633"/>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9" name="">
            <a:extLst xmlns:a="http://schemas.openxmlformats.org/drawingml/2006/main">
              <a:ext uri="{FF2B5EF4-FFF2-40B4-BE49-F238E27FC236}">
                <a16:creationId xmlns:a16="http://schemas.microsoft.com/office/drawing/2014/main" id="{34E78CC4-0815-4C41-9652-C27271E75114}"/>
              </a:ext>
            </a:extLst>
          </p:cNvPr>
          <p:cNvSpPr>
            <a:spLocks xmlns:a="http://schemas.openxmlformats.org/drawingml/2006/main" noGrp="1"/>
          </p:cNvSpPr>
          <p:nvPr/>
        </p:nvSpPr>
        <p:spPr>
          <a:xfrm xmlns:a="http://schemas.openxmlformats.org/drawingml/2006/main">
            <a:off x="4591050" y="1390650"/>
            <a:ext cx="72199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11430">
            <a:solidFill>
              <a:srgbClr val="D7DFE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c4b8abc8fc494089"/>
          <a:stretch xmlns:a="http://schemas.openxmlformats.org/drawingml/2006/main"/>
        </p:blipFill>
        <p:spPr>
          <a:xfrm xmlns:a="http://schemas.openxmlformats.org/drawingml/2006/main">
            <a:off x="4860894" y="1543050"/>
            <a:ext cx="6680262" cy="4114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E48EA493-4F27-4227-A5DA-C9B28AD51CE4}"/>
              </a:ext>
            </a:extLst>
          </p:cNvPr>
          <p:cNvSpPr>
            <a:spLocks xmlns:a="http://schemas.openxmlformats.org/drawingml/2006/main" noGrp="1"/>
          </p:cNvSpPr>
          <p:nvPr/>
        </p:nvSpPr>
        <p:spPr>
          <a:xfrm xmlns:a="http://schemas.openxmlformats.org/drawingml/2006/main">
            <a:off x="4743450" y="5715000"/>
            <a:ext cx="6915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00" b="0">
                <a:solidFill>
                  <a:srgbClr val="667085"/>
                </a:solidFill>
              </a:defRPr>
            </a:pPr>
            <a:r>
              <a:rPr sz="900" b="0">
                <a:solidFill>
                  <a:srgbClr val="667085"/>
                </a:solidFill>
              </a:rPr>
              <a:t>Écran de connexion avec identifiant et mot de passe.</a:t>
            </a:r>
          </a:p>
        </p:txBody>
      </p:sp>
      <p:sp>
        <p:nvSpPr>
          <p:cNvPr id="12" name="">
            <a:extLst xmlns:a="http://schemas.openxmlformats.org/drawingml/2006/main">
              <a:ext uri="{FF2B5EF4-FFF2-40B4-BE49-F238E27FC236}">
                <a16:creationId xmlns:a16="http://schemas.microsoft.com/office/drawing/2014/main" id="{6562DB27-11F4-49B9-9E2C-DF343D7F65E0}"/>
              </a:ext>
            </a:extLst>
          </p:cNvPr>
          <p:cNvSpPr>
            <a:spLocks xmlns:a="http://schemas.openxmlformats.org/drawingml/2006/main" noGrp="1"/>
          </p:cNvSpPr>
          <p:nvPr/>
        </p:nvSpPr>
        <p:spPr>
          <a:xfrm xmlns:a="http://schemas.openxmlformats.org/drawingml/2006/main">
            <a:off x="342900" y="64389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75" b="0">
                <a:solidFill>
                  <a:srgbClr val="667085"/>
                </a:solidFill>
              </a:defRPr>
            </a:pPr>
            <a:r>
              <a:rPr sz="975" b="0">
                <a:solidFill>
                  <a:srgbClr val="667085"/>
                </a:solidFill>
              </a:rPr>
              <a:t>Boulangerie Lomoto  |  Guide utilisateur</a:t>
            </a:r>
          </a:p>
        </p:txBody>
      </p:sp>
      <p:sp>
        <p:nvSpPr>
          <p:cNvPr id="13" name="">
            <a:extLst xmlns:a="http://schemas.openxmlformats.org/drawingml/2006/main">
              <a:ext uri="{FF2B5EF4-FFF2-40B4-BE49-F238E27FC236}">
                <a16:creationId xmlns:a16="http://schemas.microsoft.com/office/drawing/2014/main" id="{23D5FC44-F0C0-4ABF-952B-25A927F447D6}"/>
              </a:ext>
            </a:extLst>
          </p:cNvPr>
          <p:cNvSpPr>
            <a:spLocks xmlns:a="http://schemas.openxmlformats.org/drawingml/2006/main" noGrp="1"/>
          </p:cNvSpPr>
          <p:nvPr/>
        </p:nvSpPr>
        <p:spPr>
          <a:xfrm xmlns:a="http://schemas.openxmlformats.org/drawingml/2006/main">
            <a:off x="11239500" y="6400800"/>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r">
              <a:defRPr sz="975" b="0">
                <a:solidFill>
                  <a:srgbClr val="667085"/>
                </a:solidFill>
              </a:defRPr>
            </a:pPr>
            <a:r>
              <a:rPr sz="975" b="0">
                <a:solidFill>
                  <a:srgbClr val="667085"/>
                </a:solidFill>
              </a:rPr>
              <a:t>02</a:t>
            </a:r>
          </a:p>
        </p:txBody>
      </p:sp>
    </p:spTree>
    <p:extLst>
      <p:ext uri="{BB962C8B-B14F-4D97-AF65-F5344CB8AC3E}">
        <p14:creationId xmlns:p14="http://schemas.microsoft.com/office/powerpoint/2010/main" val="2019589483"/>
      </p:ext>
    </p:extLst>
  </p:cSld>
</p:sld>
</file>

<file path=ppt/slides/slide3.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E13A687-EC78-4065-AFFB-4DD48DF970EF}"/>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A3E8B0AB-7ABB-42FC-96AA-1FECC7805B5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30000"/>
          </a:solidFill>
          <a:ln xmlns:a="http://schemas.openxmlformats.org/drawingml/2006/main" w="0">
            <a:solidFill>
              <a:srgbClr val="B30000"/>
            </a:solidFill>
            <a:prstDash val="solid"/>
          </a:ln>
        </p:spPr>
      </p:sp>
      <p:sp>
        <p:nvSpPr>
          <p:cNvPr id="3" name="">
            <a:extLst xmlns:a="http://schemas.openxmlformats.org/drawingml/2006/main">
              <a:ext uri="{FF2B5EF4-FFF2-40B4-BE49-F238E27FC236}">
                <a16:creationId xmlns:a16="http://schemas.microsoft.com/office/drawing/2014/main" id="{209C0AE7-627B-47E8-ABDE-0AE908AB99F4}"/>
              </a:ext>
            </a:extLst>
          </p:cNvPr>
          <p:cNvSpPr>
            <a:spLocks xmlns:a="http://schemas.openxmlformats.org/drawingml/2006/main" noGrp="1"/>
          </p:cNvSpPr>
          <p:nvPr/>
        </p:nvSpPr>
        <p:spPr>
          <a:xfrm xmlns:a="http://schemas.openxmlformats.org/drawingml/2006/main">
            <a:off x="381000" y="361950"/>
            <a:ext cx="6858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2100" b="1">
                <a:solidFill>
                  <a:srgbClr val="B30000"/>
                </a:solidFill>
              </a:defRPr>
            </a:pPr>
            <a:r>
              <a:rPr sz="2100" b="1">
                <a:solidFill>
                  <a:srgbClr val="B30000"/>
                </a:solidFill>
              </a:rPr>
              <a:t>2. Tableau de bord principal</a:t>
            </a:r>
          </a:p>
        </p:txBody>
      </p:sp>
      <p:sp>
        <p:nvSpPr>
          <p:cNvPr id="4" name="">
            <a:extLst xmlns:a="http://schemas.openxmlformats.org/drawingml/2006/main">
              <a:ext uri="{FF2B5EF4-FFF2-40B4-BE49-F238E27FC236}">
                <a16:creationId xmlns:a16="http://schemas.microsoft.com/office/drawing/2014/main" id="{C948F603-5665-47DD-9ABF-A38522C7917E}"/>
              </a:ext>
            </a:extLst>
          </p:cNvPr>
          <p:cNvSpPr>
            <a:spLocks xmlns:a="http://schemas.openxmlformats.org/drawingml/2006/main" noGrp="1"/>
          </p:cNvSpPr>
          <p:nvPr/>
        </p:nvSpPr>
        <p:spPr>
          <a:xfrm xmlns:a="http://schemas.openxmlformats.org/drawingml/2006/main">
            <a:off x="381000" y="85725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1">
                <a:solidFill>
                  <a:srgbClr val="123B6B"/>
                </a:solidFill>
              </a:defRPr>
            </a:pPr>
            <a:r>
              <a:rPr sz="1200" b="1">
                <a:solidFill>
                  <a:srgbClr val="123B6B"/>
                </a:solidFill>
              </a:rPr>
              <a:t>Retrouver rapidement toutes les actions importantes</a:t>
            </a:r>
          </a:p>
        </p:txBody>
      </p:sp>
      <p:sp>
        <p:nvSpPr>
          <p:cNvPr id="5" name="">
            <a:extLst xmlns:a="http://schemas.openxmlformats.org/drawingml/2006/main">
              <a:ext uri="{FF2B5EF4-FFF2-40B4-BE49-F238E27FC236}">
                <a16:creationId xmlns:a16="http://schemas.microsoft.com/office/drawing/2014/main" id="{D9CD4B39-671C-4224-BDD0-CF428BBF176C}"/>
              </a:ext>
            </a:extLst>
          </p:cNvPr>
          <p:cNvSpPr>
            <a:spLocks xmlns:a="http://schemas.openxmlformats.org/drawingml/2006/main" noGrp="1"/>
          </p:cNvSpPr>
          <p:nvPr/>
        </p:nvSpPr>
        <p:spPr>
          <a:xfrm xmlns:a="http://schemas.openxmlformats.org/drawingml/2006/main">
            <a:off x="381000" y="1390650"/>
            <a:ext cx="3943350" cy="46672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9525">
            <a:solidFill>
              <a:srgbClr val="D7DFEA"/>
            </a:solidFill>
            <a:prstDash val="solid"/>
          </a:ln>
        </p:spPr>
      </p:sp>
      <p:sp>
        <p:nvSpPr>
          <p:cNvPr id="6" name="">
            <a:extLst xmlns:a="http://schemas.openxmlformats.org/drawingml/2006/main">
              <a:ext uri="{FF2B5EF4-FFF2-40B4-BE49-F238E27FC236}">
                <a16:creationId xmlns:a16="http://schemas.microsoft.com/office/drawing/2014/main" id="{43E5493B-D307-4595-9087-2D59065FC1F5}"/>
              </a:ext>
            </a:extLst>
          </p:cNvPr>
          <p:cNvSpPr>
            <a:spLocks xmlns:a="http://schemas.openxmlformats.org/drawingml/2006/main" noGrp="1"/>
          </p:cNvSpPr>
          <p:nvPr/>
        </p:nvSpPr>
        <p:spPr>
          <a:xfrm xmlns:a="http://schemas.openxmlformats.org/drawingml/2006/main">
            <a:off x="552450" y="1524000"/>
            <a:ext cx="3600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350" b="1">
                <a:solidFill>
                  <a:srgbClr val="123B6B"/>
                </a:solidFill>
              </a:defRPr>
            </a:pPr>
            <a:r>
              <a:rPr sz="1350" b="1">
                <a:solidFill>
                  <a:srgbClr val="123B6B"/>
                </a:solidFill>
              </a:rPr>
              <a:t>À retenir</a:t>
            </a:r>
          </a:p>
        </p:txBody>
      </p:sp>
      <p:sp>
        <p:nvSpPr>
          <p:cNvPr id="7" name="">
            <a:extLst xmlns:a="http://schemas.openxmlformats.org/drawingml/2006/main">
              <a:ext uri="{FF2B5EF4-FFF2-40B4-BE49-F238E27FC236}">
                <a16:creationId xmlns:a16="http://schemas.microsoft.com/office/drawing/2014/main" id="{ACE3EC19-6FD6-4AB7-BE47-9C8DBE95D28D}"/>
              </a:ext>
            </a:extLst>
          </p:cNvPr>
          <p:cNvSpPr>
            <a:spLocks xmlns:a="http://schemas.openxmlformats.org/drawingml/2006/main" noGrp="1"/>
          </p:cNvSpPr>
          <p:nvPr/>
        </p:nvSpPr>
        <p:spPr>
          <a:xfrm xmlns:a="http://schemas.openxmlformats.org/drawingml/2006/main">
            <a:off x="552450" y="1847850"/>
            <a:ext cx="3600450" cy="403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0">
                <a:solidFill>
                  <a:srgbClr val="1D2939"/>
                </a:solidFill>
              </a:defRPr>
            </a:pPr>
            <a:r>
              <a:rPr sz="1200" b="0">
                <a:solidFill>
                  <a:srgbClr val="1D2939"/>
                </a:solidFill>
              </a:rPr>
              <a:t>• Les boutons donnent accès aux modules : caisse, stock, commandes, commissions et utilisateurs.</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 résumé affiche les chiffres clés du jour et l'état général de l'activité.</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La zone sécurité permet de changer son mot de passe.</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Les actions de sauvegarde, de restauration et de rapports sont disponibles depuis le même écran.</a:t>
            </a:r>
          </a:p>
        </p:txBody>
      </p:sp>
      <p:sp>
        <p:nvSpPr>
          <p:cNvPr id="8" name="">
            <a:extLst xmlns:a="http://schemas.openxmlformats.org/drawingml/2006/main">
              <a:ext uri="{FF2B5EF4-FFF2-40B4-BE49-F238E27FC236}">
                <a16:creationId xmlns:a16="http://schemas.microsoft.com/office/drawing/2014/main" id="{C19AC54B-C0B2-455F-8594-188B7709E09E}"/>
              </a:ext>
            </a:extLst>
          </p:cNvPr>
          <p:cNvSpPr>
            <a:spLocks xmlns:a="http://schemas.openxmlformats.org/drawingml/2006/main" noGrp="1"/>
          </p:cNvSpPr>
          <p:nvPr/>
        </p:nvSpPr>
        <p:spPr>
          <a:xfrm xmlns:a="http://schemas.openxmlformats.org/drawingml/2006/main">
            <a:off x="4686300" y="1504950"/>
            <a:ext cx="7219950" cy="4667250"/>
          </a:xfrm>
          <a:prstGeom xmlns:a="http://schemas.openxmlformats.org/drawingml/2006/main" prst="roundRect">
            <a:avLst>
              <a:gd name="adj" fmla="val 1633"/>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9" name="">
            <a:extLst xmlns:a="http://schemas.openxmlformats.org/drawingml/2006/main">
              <a:ext uri="{FF2B5EF4-FFF2-40B4-BE49-F238E27FC236}">
                <a16:creationId xmlns:a16="http://schemas.microsoft.com/office/drawing/2014/main" id="{1F10FFA8-DF76-464E-8ABE-083146081860}"/>
              </a:ext>
            </a:extLst>
          </p:cNvPr>
          <p:cNvSpPr>
            <a:spLocks xmlns:a="http://schemas.openxmlformats.org/drawingml/2006/main" noGrp="1"/>
          </p:cNvSpPr>
          <p:nvPr/>
        </p:nvSpPr>
        <p:spPr>
          <a:xfrm xmlns:a="http://schemas.openxmlformats.org/drawingml/2006/main">
            <a:off x="4591050" y="1390650"/>
            <a:ext cx="72199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11430">
            <a:solidFill>
              <a:srgbClr val="D7DFE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1fd9b47e88254228"/>
          <a:stretch xmlns:a="http://schemas.openxmlformats.org/drawingml/2006/main"/>
        </p:blipFill>
        <p:spPr>
          <a:xfrm xmlns:a="http://schemas.openxmlformats.org/drawingml/2006/main">
            <a:off x="6336312" y="1543050"/>
            <a:ext cx="3729426" cy="4114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320AE71-8623-4C07-89CA-751644B2C2B8}"/>
              </a:ext>
            </a:extLst>
          </p:cNvPr>
          <p:cNvSpPr>
            <a:spLocks xmlns:a="http://schemas.openxmlformats.org/drawingml/2006/main" noGrp="1"/>
          </p:cNvSpPr>
          <p:nvPr/>
        </p:nvSpPr>
        <p:spPr>
          <a:xfrm xmlns:a="http://schemas.openxmlformats.org/drawingml/2006/main">
            <a:off x="4743450" y="5715000"/>
            <a:ext cx="6915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00" b="0">
                <a:solidFill>
                  <a:srgbClr val="667085"/>
                </a:solidFill>
              </a:defRPr>
            </a:pPr>
            <a:r>
              <a:rPr sz="900" b="0">
                <a:solidFill>
                  <a:srgbClr val="667085"/>
                </a:solidFill>
              </a:rPr>
              <a:t>Le tableau de bord centralise les raccourcis, les résumés et les outils de sécurité.</a:t>
            </a:r>
          </a:p>
        </p:txBody>
      </p:sp>
      <p:sp>
        <p:nvSpPr>
          <p:cNvPr id="12" name="">
            <a:extLst xmlns:a="http://schemas.openxmlformats.org/drawingml/2006/main">
              <a:ext uri="{FF2B5EF4-FFF2-40B4-BE49-F238E27FC236}">
                <a16:creationId xmlns:a16="http://schemas.microsoft.com/office/drawing/2014/main" id="{8A5390A6-D12C-4961-A9E1-B633A399A023}"/>
              </a:ext>
            </a:extLst>
          </p:cNvPr>
          <p:cNvSpPr>
            <a:spLocks xmlns:a="http://schemas.openxmlformats.org/drawingml/2006/main" noGrp="1"/>
          </p:cNvSpPr>
          <p:nvPr/>
        </p:nvSpPr>
        <p:spPr>
          <a:xfrm xmlns:a="http://schemas.openxmlformats.org/drawingml/2006/main">
            <a:off x="342900" y="64389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75" b="0">
                <a:solidFill>
                  <a:srgbClr val="667085"/>
                </a:solidFill>
              </a:defRPr>
            </a:pPr>
            <a:r>
              <a:rPr sz="975" b="0">
                <a:solidFill>
                  <a:srgbClr val="667085"/>
                </a:solidFill>
              </a:rPr>
              <a:t>Boulangerie Lomoto  |  Guide utilisateur</a:t>
            </a:r>
          </a:p>
        </p:txBody>
      </p:sp>
      <p:sp>
        <p:nvSpPr>
          <p:cNvPr id="13" name="">
            <a:extLst xmlns:a="http://schemas.openxmlformats.org/drawingml/2006/main">
              <a:ext uri="{FF2B5EF4-FFF2-40B4-BE49-F238E27FC236}">
                <a16:creationId xmlns:a16="http://schemas.microsoft.com/office/drawing/2014/main" id="{B2587F03-7FE1-44D5-929A-774E68B12746}"/>
              </a:ext>
            </a:extLst>
          </p:cNvPr>
          <p:cNvSpPr>
            <a:spLocks xmlns:a="http://schemas.openxmlformats.org/drawingml/2006/main" noGrp="1"/>
          </p:cNvSpPr>
          <p:nvPr/>
        </p:nvSpPr>
        <p:spPr>
          <a:xfrm xmlns:a="http://schemas.openxmlformats.org/drawingml/2006/main">
            <a:off x="11239500" y="6400800"/>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r">
              <a:defRPr sz="975" b="0">
                <a:solidFill>
                  <a:srgbClr val="667085"/>
                </a:solidFill>
              </a:defRPr>
            </a:pPr>
            <a:r>
              <a:rPr sz="975" b="0">
                <a:solidFill>
                  <a:srgbClr val="667085"/>
                </a:solidFill>
              </a:rPr>
              <a:t>03</a:t>
            </a:r>
          </a:p>
        </p:txBody>
      </p:sp>
    </p:spTree>
    <p:extLst>
      <p:ext uri="{BB962C8B-B14F-4D97-AF65-F5344CB8AC3E}">
        <p14:creationId xmlns:p14="http://schemas.microsoft.com/office/powerpoint/2010/main" val="1362910638"/>
      </p:ext>
    </p:extLst>
  </p:cSld>
</p:sld>
</file>

<file path=ppt/slides/slide4.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E13A687-EC78-4065-AFFB-4DD48DF970EF}"/>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DC52FA6-65FD-4676-8EAB-FEA222C0384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30000"/>
          </a:solidFill>
          <a:ln xmlns:a="http://schemas.openxmlformats.org/drawingml/2006/main" w="0">
            <a:solidFill>
              <a:srgbClr val="B30000"/>
            </a:solidFill>
            <a:prstDash val="solid"/>
          </a:ln>
        </p:spPr>
      </p:sp>
      <p:sp>
        <p:nvSpPr>
          <p:cNvPr id="3" name="">
            <a:extLst xmlns:a="http://schemas.openxmlformats.org/drawingml/2006/main">
              <a:ext uri="{FF2B5EF4-FFF2-40B4-BE49-F238E27FC236}">
                <a16:creationId xmlns:a16="http://schemas.microsoft.com/office/drawing/2014/main" id="{1C6242EE-C8AF-4C7D-8C1A-7A915F7AC655}"/>
              </a:ext>
            </a:extLst>
          </p:cNvPr>
          <p:cNvSpPr>
            <a:spLocks xmlns:a="http://schemas.openxmlformats.org/drawingml/2006/main" noGrp="1"/>
          </p:cNvSpPr>
          <p:nvPr/>
        </p:nvSpPr>
        <p:spPr>
          <a:xfrm xmlns:a="http://schemas.openxmlformats.org/drawingml/2006/main">
            <a:off x="381000" y="361950"/>
            <a:ext cx="6858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2100" b="1">
                <a:solidFill>
                  <a:srgbClr val="B30000"/>
                </a:solidFill>
              </a:defRPr>
            </a:pPr>
            <a:r>
              <a:rPr sz="2100" b="1">
                <a:solidFill>
                  <a:srgbClr val="B30000"/>
                </a:solidFill>
              </a:rPr>
              <a:t>3. Gestion des utilisateurs</a:t>
            </a:r>
          </a:p>
        </p:txBody>
      </p:sp>
      <p:sp>
        <p:nvSpPr>
          <p:cNvPr id="4" name="">
            <a:extLst xmlns:a="http://schemas.openxmlformats.org/drawingml/2006/main">
              <a:ext uri="{FF2B5EF4-FFF2-40B4-BE49-F238E27FC236}">
                <a16:creationId xmlns:a16="http://schemas.microsoft.com/office/drawing/2014/main" id="{5502BB0E-A6A6-40C9-904B-509FA7EEE87F}"/>
              </a:ext>
            </a:extLst>
          </p:cNvPr>
          <p:cNvSpPr>
            <a:spLocks xmlns:a="http://schemas.openxmlformats.org/drawingml/2006/main" noGrp="1"/>
          </p:cNvSpPr>
          <p:nvPr/>
        </p:nvSpPr>
        <p:spPr>
          <a:xfrm xmlns:a="http://schemas.openxmlformats.org/drawingml/2006/main">
            <a:off x="381000" y="85725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1">
                <a:solidFill>
                  <a:srgbClr val="123B6B"/>
                </a:solidFill>
              </a:defRPr>
            </a:pPr>
            <a:r>
              <a:rPr sz="1200" b="1">
                <a:solidFill>
                  <a:srgbClr val="123B6B"/>
                </a:solidFill>
              </a:rPr>
              <a:t>Créer, modifier ou rechercher un compte</a:t>
            </a:r>
          </a:p>
        </p:txBody>
      </p:sp>
      <p:sp>
        <p:nvSpPr>
          <p:cNvPr id="5" name="">
            <a:extLst xmlns:a="http://schemas.openxmlformats.org/drawingml/2006/main">
              <a:ext uri="{FF2B5EF4-FFF2-40B4-BE49-F238E27FC236}">
                <a16:creationId xmlns:a16="http://schemas.microsoft.com/office/drawing/2014/main" id="{4E8BC2CA-C52C-414A-B375-73E73E9B8B30}"/>
              </a:ext>
            </a:extLst>
          </p:cNvPr>
          <p:cNvSpPr>
            <a:spLocks xmlns:a="http://schemas.openxmlformats.org/drawingml/2006/main" noGrp="1"/>
          </p:cNvSpPr>
          <p:nvPr/>
        </p:nvSpPr>
        <p:spPr>
          <a:xfrm xmlns:a="http://schemas.openxmlformats.org/drawingml/2006/main">
            <a:off x="381000" y="1390650"/>
            <a:ext cx="3943350" cy="46672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9525">
            <a:solidFill>
              <a:srgbClr val="D7DFEA"/>
            </a:solidFill>
            <a:prstDash val="solid"/>
          </a:ln>
        </p:spPr>
      </p:sp>
      <p:sp>
        <p:nvSpPr>
          <p:cNvPr id="6" name="">
            <a:extLst xmlns:a="http://schemas.openxmlformats.org/drawingml/2006/main">
              <a:ext uri="{FF2B5EF4-FFF2-40B4-BE49-F238E27FC236}">
                <a16:creationId xmlns:a16="http://schemas.microsoft.com/office/drawing/2014/main" id="{B4ED7453-BE0D-44F4-A626-480E0ED060B9}"/>
              </a:ext>
            </a:extLst>
          </p:cNvPr>
          <p:cNvSpPr>
            <a:spLocks xmlns:a="http://schemas.openxmlformats.org/drawingml/2006/main" noGrp="1"/>
          </p:cNvSpPr>
          <p:nvPr/>
        </p:nvSpPr>
        <p:spPr>
          <a:xfrm xmlns:a="http://schemas.openxmlformats.org/drawingml/2006/main">
            <a:off x="552450" y="1524000"/>
            <a:ext cx="3600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350" b="1">
                <a:solidFill>
                  <a:srgbClr val="123B6B"/>
                </a:solidFill>
              </a:defRPr>
            </a:pPr>
            <a:r>
              <a:rPr sz="1350" b="1">
                <a:solidFill>
                  <a:srgbClr val="123B6B"/>
                </a:solidFill>
              </a:rPr>
              <a:t>À retenir</a:t>
            </a:r>
          </a:p>
        </p:txBody>
      </p:sp>
      <p:sp>
        <p:nvSpPr>
          <p:cNvPr id="7" name="">
            <a:extLst xmlns:a="http://schemas.openxmlformats.org/drawingml/2006/main">
              <a:ext uri="{FF2B5EF4-FFF2-40B4-BE49-F238E27FC236}">
                <a16:creationId xmlns:a16="http://schemas.microsoft.com/office/drawing/2014/main" id="{8DF9BD30-6D8A-4F44-9033-AFC8D51C5B50}"/>
              </a:ext>
            </a:extLst>
          </p:cNvPr>
          <p:cNvSpPr>
            <a:spLocks xmlns:a="http://schemas.openxmlformats.org/drawingml/2006/main" noGrp="1"/>
          </p:cNvSpPr>
          <p:nvPr/>
        </p:nvSpPr>
        <p:spPr>
          <a:xfrm xmlns:a="http://schemas.openxmlformats.org/drawingml/2006/main">
            <a:off x="552450" y="1847850"/>
            <a:ext cx="3600450" cy="403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0">
                <a:solidFill>
                  <a:srgbClr val="1D2939"/>
                </a:solidFill>
              </a:defRPr>
            </a:pPr>
            <a:r>
              <a:rPr sz="1200" b="0">
                <a:solidFill>
                  <a:srgbClr val="1D2939"/>
                </a:solidFill>
              </a:rPr>
              <a:t>• Renseigner le nom complet, l'identifiant, le mot de passe et le rôle.</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 bouton Afficher permet de contrôler la saisie du mot de passe.</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La liste à droite permet de rechercher, modifier ou supprimer un compte existant.</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Seul l'administrateur accède à ce formulaire.</a:t>
            </a:r>
          </a:p>
        </p:txBody>
      </p:sp>
      <p:sp>
        <p:nvSpPr>
          <p:cNvPr id="8" name="">
            <a:extLst xmlns:a="http://schemas.openxmlformats.org/drawingml/2006/main">
              <a:ext uri="{FF2B5EF4-FFF2-40B4-BE49-F238E27FC236}">
                <a16:creationId xmlns:a16="http://schemas.microsoft.com/office/drawing/2014/main" id="{6545D163-5F0A-47BB-9486-81757A1E49E6}"/>
              </a:ext>
            </a:extLst>
          </p:cNvPr>
          <p:cNvSpPr>
            <a:spLocks xmlns:a="http://schemas.openxmlformats.org/drawingml/2006/main" noGrp="1"/>
          </p:cNvSpPr>
          <p:nvPr/>
        </p:nvSpPr>
        <p:spPr>
          <a:xfrm xmlns:a="http://schemas.openxmlformats.org/drawingml/2006/main">
            <a:off x="4686300" y="1504950"/>
            <a:ext cx="7219950" cy="4667250"/>
          </a:xfrm>
          <a:prstGeom xmlns:a="http://schemas.openxmlformats.org/drawingml/2006/main" prst="roundRect">
            <a:avLst>
              <a:gd name="adj" fmla="val 1633"/>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9" name="">
            <a:extLst xmlns:a="http://schemas.openxmlformats.org/drawingml/2006/main">
              <a:ext uri="{FF2B5EF4-FFF2-40B4-BE49-F238E27FC236}">
                <a16:creationId xmlns:a16="http://schemas.microsoft.com/office/drawing/2014/main" id="{DF2935DD-7D43-492C-B0CF-C0E8AC5C63EC}"/>
              </a:ext>
            </a:extLst>
          </p:cNvPr>
          <p:cNvSpPr>
            <a:spLocks xmlns:a="http://schemas.openxmlformats.org/drawingml/2006/main" noGrp="1"/>
          </p:cNvSpPr>
          <p:nvPr/>
        </p:nvSpPr>
        <p:spPr>
          <a:xfrm xmlns:a="http://schemas.openxmlformats.org/drawingml/2006/main">
            <a:off x="4591050" y="1390650"/>
            <a:ext cx="72199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11430">
            <a:solidFill>
              <a:srgbClr val="D7DFE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c5b4dfdb6aa40a6"/>
          <a:stretch xmlns:a="http://schemas.openxmlformats.org/drawingml/2006/main"/>
        </p:blipFill>
        <p:spPr>
          <a:xfrm xmlns:a="http://schemas.openxmlformats.org/drawingml/2006/main">
            <a:off x="5474970" y="1543050"/>
            <a:ext cx="5452110" cy="4114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5F4DB15E-6728-4A48-92A0-4FB4C395012D}"/>
              </a:ext>
            </a:extLst>
          </p:cNvPr>
          <p:cNvSpPr>
            <a:spLocks xmlns:a="http://schemas.openxmlformats.org/drawingml/2006/main" noGrp="1"/>
          </p:cNvSpPr>
          <p:nvPr/>
        </p:nvSpPr>
        <p:spPr>
          <a:xfrm xmlns:a="http://schemas.openxmlformats.org/drawingml/2006/main">
            <a:off x="4743450" y="5715000"/>
            <a:ext cx="6915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00" b="0">
                <a:solidFill>
                  <a:srgbClr val="667085"/>
                </a:solidFill>
              </a:defRPr>
            </a:pPr>
            <a:r>
              <a:rPr sz="900" b="0">
                <a:solidFill>
                  <a:srgbClr val="667085"/>
                </a:solidFill>
              </a:rPr>
              <a:t>Le formulaire utilisateur permet à l'administrateur de gérer les comptes et les rôles.</a:t>
            </a:r>
          </a:p>
        </p:txBody>
      </p:sp>
      <p:sp>
        <p:nvSpPr>
          <p:cNvPr id="12" name="">
            <a:extLst xmlns:a="http://schemas.openxmlformats.org/drawingml/2006/main">
              <a:ext uri="{FF2B5EF4-FFF2-40B4-BE49-F238E27FC236}">
                <a16:creationId xmlns:a16="http://schemas.microsoft.com/office/drawing/2014/main" id="{E43AF911-87FF-4B2A-88C7-D67C692CB2D4}"/>
              </a:ext>
            </a:extLst>
          </p:cNvPr>
          <p:cNvSpPr>
            <a:spLocks xmlns:a="http://schemas.openxmlformats.org/drawingml/2006/main" noGrp="1"/>
          </p:cNvSpPr>
          <p:nvPr/>
        </p:nvSpPr>
        <p:spPr>
          <a:xfrm xmlns:a="http://schemas.openxmlformats.org/drawingml/2006/main">
            <a:off x="342900" y="64389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75" b="0">
                <a:solidFill>
                  <a:srgbClr val="667085"/>
                </a:solidFill>
              </a:defRPr>
            </a:pPr>
            <a:r>
              <a:rPr sz="975" b="0">
                <a:solidFill>
                  <a:srgbClr val="667085"/>
                </a:solidFill>
              </a:rPr>
              <a:t>Boulangerie Lomoto  |  Guide utilisateur</a:t>
            </a:r>
          </a:p>
        </p:txBody>
      </p:sp>
      <p:sp>
        <p:nvSpPr>
          <p:cNvPr id="13" name="">
            <a:extLst xmlns:a="http://schemas.openxmlformats.org/drawingml/2006/main">
              <a:ext uri="{FF2B5EF4-FFF2-40B4-BE49-F238E27FC236}">
                <a16:creationId xmlns:a16="http://schemas.microsoft.com/office/drawing/2014/main" id="{FD9A8AA5-4D20-4678-BDB1-A56FF626F967}"/>
              </a:ext>
            </a:extLst>
          </p:cNvPr>
          <p:cNvSpPr>
            <a:spLocks xmlns:a="http://schemas.openxmlformats.org/drawingml/2006/main" noGrp="1"/>
          </p:cNvSpPr>
          <p:nvPr/>
        </p:nvSpPr>
        <p:spPr>
          <a:xfrm xmlns:a="http://schemas.openxmlformats.org/drawingml/2006/main">
            <a:off x="11239500" y="6400800"/>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r">
              <a:defRPr sz="975" b="0">
                <a:solidFill>
                  <a:srgbClr val="667085"/>
                </a:solidFill>
              </a:defRPr>
            </a:pPr>
            <a:r>
              <a:rPr sz="975" b="0">
                <a:solidFill>
                  <a:srgbClr val="667085"/>
                </a:solidFill>
              </a:rPr>
              <a:t>04</a:t>
            </a:r>
          </a:p>
        </p:txBody>
      </p:sp>
    </p:spTree>
    <p:extLst>
      <p:ext uri="{BB962C8B-B14F-4D97-AF65-F5344CB8AC3E}">
        <p14:creationId xmlns:p14="http://schemas.microsoft.com/office/powerpoint/2010/main" val="117058655"/>
      </p:ext>
    </p:extLst>
  </p:cSld>
</p:sld>
</file>

<file path=ppt/slides/slide5.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E13A687-EC78-4065-AFFB-4DD48DF970EF}"/>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EABF5430-06A3-469E-8A10-371F4773E74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30000"/>
          </a:solidFill>
          <a:ln xmlns:a="http://schemas.openxmlformats.org/drawingml/2006/main" w="0">
            <a:solidFill>
              <a:srgbClr val="B30000"/>
            </a:solidFill>
            <a:prstDash val="solid"/>
          </a:ln>
        </p:spPr>
      </p:sp>
      <p:sp>
        <p:nvSpPr>
          <p:cNvPr id="3" name="">
            <a:extLst xmlns:a="http://schemas.openxmlformats.org/drawingml/2006/main">
              <a:ext uri="{FF2B5EF4-FFF2-40B4-BE49-F238E27FC236}">
                <a16:creationId xmlns:a16="http://schemas.microsoft.com/office/drawing/2014/main" id="{2A40DDE7-1A7F-407E-B87A-95985FD7029E}"/>
              </a:ext>
            </a:extLst>
          </p:cNvPr>
          <p:cNvSpPr>
            <a:spLocks xmlns:a="http://schemas.openxmlformats.org/drawingml/2006/main" noGrp="1"/>
          </p:cNvSpPr>
          <p:nvPr/>
        </p:nvSpPr>
        <p:spPr>
          <a:xfrm xmlns:a="http://schemas.openxmlformats.org/drawingml/2006/main">
            <a:off x="381000" y="361950"/>
            <a:ext cx="6858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2100" b="1">
                <a:solidFill>
                  <a:srgbClr val="B30000"/>
                </a:solidFill>
              </a:defRPr>
            </a:pPr>
            <a:r>
              <a:rPr sz="2100" b="1">
                <a:solidFill>
                  <a:srgbClr val="B30000"/>
                </a:solidFill>
              </a:rPr>
              <a:t>4. Gestion du stock</a:t>
            </a:r>
          </a:p>
        </p:txBody>
      </p:sp>
      <p:sp>
        <p:nvSpPr>
          <p:cNvPr id="4" name="">
            <a:extLst xmlns:a="http://schemas.openxmlformats.org/drawingml/2006/main">
              <a:ext uri="{FF2B5EF4-FFF2-40B4-BE49-F238E27FC236}">
                <a16:creationId xmlns:a16="http://schemas.microsoft.com/office/drawing/2014/main" id="{1CECE10C-A965-4002-BA05-CD47C033080C}"/>
              </a:ext>
            </a:extLst>
          </p:cNvPr>
          <p:cNvSpPr>
            <a:spLocks xmlns:a="http://schemas.openxmlformats.org/drawingml/2006/main" noGrp="1"/>
          </p:cNvSpPr>
          <p:nvPr/>
        </p:nvSpPr>
        <p:spPr>
          <a:xfrm xmlns:a="http://schemas.openxmlformats.org/drawingml/2006/main">
            <a:off x="381000" y="85725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1">
                <a:solidFill>
                  <a:srgbClr val="123B6B"/>
                </a:solidFill>
              </a:defRPr>
            </a:pPr>
            <a:r>
              <a:rPr sz="1200" b="1">
                <a:solidFill>
                  <a:srgbClr val="123B6B"/>
                </a:solidFill>
              </a:rPr>
              <a:t>Suivre les sorties et le stock restant</a:t>
            </a:r>
          </a:p>
        </p:txBody>
      </p:sp>
      <p:sp>
        <p:nvSpPr>
          <p:cNvPr id="5" name="">
            <a:extLst xmlns:a="http://schemas.openxmlformats.org/drawingml/2006/main">
              <a:ext uri="{FF2B5EF4-FFF2-40B4-BE49-F238E27FC236}">
                <a16:creationId xmlns:a16="http://schemas.microsoft.com/office/drawing/2014/main" id="{AD63C5F2-A36A-432F-BE3F-7CE65BCD2CD8}"/>
              </a:ext>
            </a:extLst>
          </p:cNvPr>
          <p:cNvSpPr>
            <a:spLocks xmlns:a="http://schemas.openxmlformats.org/drawingml/2006/main" noGrp="1"/>
          </p:cNvSpPr>
          <p:nvPr/>
        </p:nvSpPr>
        <p:spPr>
          <a:xfrm xmlns:a="http://schemas.openxmlformats.org/drawingml/2006/main">
            <a:off x="381000" y="1390650"/>
            <a:ext cx="3943350" cy="46672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9525">
            <a:solidFill>
              <a:srgbClr val="D7DFEA"/>
            </a:solidFill>
            <a:prstDash val="solid"/>
          </a:ln>
        </p:spPr>
      </p:sp>
      <p:sp>
        <p:nvSpPr>
          <p:cNvPr id="6" name="">
            <a:extLst xmlns:a="http://schemas.openxmlformats.org/drawingml/2006/main">
              <a:ext uri="{FF2B5EF4-FFF2-40B4-BE49-F238E27FC236}">
                <a16:creationId xmlns:a16="http://schemas.microsoft.com/office/drawing/2014/main" id="{2946789B-D732-47F0-A0FE-3D5FEEF83DD6}"/>
              </a:ext>
            </a:extLst>
          </p:cNvPr>
          <p:cNvSpPr>
            <a:spLocks xmlns:a="http://schemas.openxmlformats.org/drawingml/2006/main" noGrp="1"/>
          </p:cNvSpPr>
          <p:nvPr/>
        </p:nvSpPr>
        <p:spPr>
          <a:xfrm xmlns:a="http://schemas.openxmlformats.org/drawingml/2006/main">
            <a:off x="552450" y="1524000"/>
            <a:ext cx="3600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350" b="1">
                <a:solidFill>
                  <a:srgbClr val="123B6B"/>
                </a:solidFill>
              </a:defRPr>
            </a:pPr>
            <a:r>
              <a:rPr sz="1350" b="1">
                <a:solidFill>
                  <a:srgbClr val="123B6B"/>
                </a:solidFill>
              </a:rPr>
              <a:t>À retenir</a:t>
            </a:r>
          </a:p>
        </p:txBody>
      </p:sp>
      <p:sp>
        <p:nvSpPr>
          <p:cNvPr id="7" name="">
            <a:extLst xmlns:a="http://schemas.openxmlformats.org/drawingml/2006/main">
              <a:ext uri="{FF2B5EF4-FFF2-40B4-BE49-F238E27FC236}">
                <a16:creationId xmlns:a16="http://schemas.microsoft.com/office/drawing/2014/main" id="{33879C67-ABD6-4CF1-BF9F-DDCFCB7C9002}"/>
              </a:ext>
            </a:extLst>
          </p:cNvPr>
          <p:cNvSpPr>
            <a:spLocks xmlns:a="http://schemas.openxmlformats.org/drawingml/2006/main" noGrp="1"/>
          </p:cNvSpPr>
          <p:nvPr/>
        </p:nvSpPr>
        <p:spPr>
          <a:xfrm xmlns:a="http://schemas.openxmlformats.org/drawingml/2006/main">
            <a:off x="552450" y="1847850"/>
            <a:ext cx="3600450" cy="403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0">
                <a:solidFill>
                  <a:srgbClr val="1D2939"/>
                </a:solidFill>
              </a:defRPr>
            </a:pPr>
            <a:r>
              <a:rPr sz="1200" b="0">
                <a:solidFill>
                  <a:srgbClr val="1D2939"/>
                </a:solidFill>
              </a:rPr>
              <a:t>• La partie supérieure affiche le stock du jour : ouverture et clôture.</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 formulaire de sortie enregistre les quantités utilisées pour la farine, la levure, le sel et l'huile.</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L'historique permet de retrouver rapidement les opérations déjà saisies.</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 bouton Paramètres sert à définir les quantités initiales de référence.</a:t>
            </a:r>
          </a:p>
        </p:txBody>
      </p:sp>
      <p:sp>
        <p:nvSpPr>
          <p:cNvPr id="8" name="">
            <a:extLst xmlns:a="http://schemas.openxmlformats.org/drawingml/2006/main">
              <a:ext uri="{FF2B5EF4-FFF2-40B4-BE49-F238E27FC236}">
                <a16:creationId xmlns:a16="http://schemas.microsoft.com/office/drawing/2014/main" id="{633A0B28-3E02-4804-AF13-26A823EE55D9}"/>
              </a:ext>
            </a:extLst>
          </p:cNvPr>
          <p:cNvSpPr>
            <a:spLocks xmlns:a="http://schemas.openxmlformats.org/drawingml/2006/main" noGrp="1"/>
          </p:cNvSpPr>
          <p:nvPr/>
        </p:nvSpPr>
        <p:spPr>
          <a:xfrm xmlns:a="http://schemas.openxmlformats.org/drawingml/2006/main">
            <a:off x="4686300" y="1504950"/>
            <a:ext cx="7219950" cy="4667250"/>
          </a:xfrm>
          <a:prstGeom xmlns:a="http://schemas.openxmlformats.org/drawingml/2006/main" prst="roundRect">
            <a:avLst>
              <a:gd name="adj" fmla="val 1633"/>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9" name="">
            <a:extLst xmlns:a="http://schemas.openxmlformats.org/drawingml/2006/main">
              <a:ext uri="{FF2B5EF4-FFF2-40B4-BE49-F238E27FC236}">
                <a16:creationId xmlns:a16="http://schemas.microsoft.com/office/drawing/2014/main" id="{0CB6C76E-6008-493A-ABEF-364C1792F5DF}"/>
              </a:ext>
            </a:extLst>
          </p:cNvPr>
          <p:cNvSpPr>
            <a:spLocks xmlns:a="http://schemas.openxmlformats.org/drawingml/2006/main" noGrp="1"/>
          </p:cNvSpPr>
          <p:nvPr/>
        </p:nvSpPr>
        <p:spPr>
          <a:xfrm xmlns:a="http://schemas.openxmlformats.org/drawingml/2006/main">
            <a:off x="4591050" y="1390650"/>
            <a:ext cx="72199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11430">
            <a:solidFill>
              <a:srgbClr val="D7DFE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27de8421b0db4cda"/>
          <a:stretch xmlns:a="http://schemas.openxmlformats.org/drawingml/2006/main"/>
        </p:blipFill>
        <p:spPr>
          <a:xfrm xmlns:a="http://schemas.openxmlformats.org/drawingml/2006/main">
            <a:off x="5589883" y="1543050"/>
            <a:ext cx="5222284" cy="4114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4060E19D-49C6-46C3-9EFD-CDA6D1B34894}"/>
              </a:ext>
            </a:extLst>
          </p:cNvPr>
          <p:cNvSpPr>
            <a:spLocks xmlns:a="http://schemas.openxmlformats.org/drawingml/2006/main" noGrp="1"/>
          </p:cNvSpPr>
          <p:nvPr/>
        </p:nvSpPr>
        <p:spPr>
          <a:xfrm xmlns:a="http://schemas.openxmlformats.org/drawingml/2006/main">
            <a:off x="4743450" y="5715000"/>
            <a:ext cx="6915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00" b="0">
                <a:solidFill>
                  <a:srgbClr val="667085"/>
                </a:solidFill>
              </a:defRPr>
            </a:pPr>
            <a:r>
              <a:rPr sz="900" b="0">
                <a:solidFill>
                  <a:srgbClr val="667085"/>
                </a:solidFill>
              </a:rPr>
              <a:t>Le module stock suit les matières premières et l'historique des sorties.</a:t>
            </a:r>
          </a:p>
        </p:txBody>
      </p:sp>
      <p:sp>
        <p:nvSpPr>
          <p:cNvPr id="12" name="">
            <a:extLst xmlns:a="http://schemas.openxmlformats.org/drawingml/2006/main">
              <a:ext uri="{FF2B5EF4-FFF2-40B4-BE49-F238E27FC236}">
                <a16:creationId xmlns:a16="http://schemas.microsoft.com/office/drawing/2014/main" id="{67B645FE-C2DC-41E9-96D9-B0DF39732152}"/>
              </a:ext>
            </a:extLst>
          </p:cNvPr>
          <p:cNvSpPr>
            <a:spLocks xmlns:a="http://schemas.openxmlformats.org/drawingml/2006/main" noGrp="1"/>
          </p:cNvSpPr>
          <p:nvPr/>
        </p:nvSpPr>
        <p:spPr>
          <a:xfrm xmlns:a="http://schemas.openxmlformats.org/drawingml/2006/main">
            <a:off x="342900" y="64389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75" b="0">
                <a:solidFill>
                  <a:srgbClr val="667085"/>
                </a:solidFill>
              </a:defRPr>
            </a:pPr>
            <a:r>
              <a:rPr sz="975" b="0">
                <a:solidFill>
                  <a:srgbClr val="667085"/>
                </a:solidFill>
              </a:rPr>
              <a:t>Boulangerie Lomoto  |  Guide utilisateur</a:t>
            </a:r>
          </a:p>
        </p:txBody>
      </p:sp>
      <p:sp>
        <p:nvSpPr>
          <p:cNvPr id="13" name="">
            <a:extLst xmlns:a="http://schemas.openxmlformats.org/drawingml/2006/main">
              <a:ext uri="{FF2B5EF4-FFF2-40B4-BE49-F238E27FC236}">
                <a16:creationId xmlns:a16="http://schemas.microsoft.com/office/drawing/2014/main" id="{EFD4CD5E-F9EB-47FF-9BEB-7DC178DDAB4E}"/>
              </a:ext>
            </a:extLst>
          </p:cNvPr>
          <p:cNvSpPr>
            <a:spLocks xmlns:a="http://schemas.openxmlformats.org/drawingml/2006/main" noGrp="1"/>
          </p:cNvSpPr>
          <p:nvPr/>
        </p:nvSpPr>
        <p:spPr>
          <a:xfrm xmlns:a="http://schemas.openxmlformats.org/drawingml/2006/main">
            <a:off x="11239500" y="6400800"/>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r">
              <a:defRPr sz="975" b="0">
                <a:solidFill>
                  <a:srgbClr val="667085"/>
                </a:solidFill>
              </a:defRPr>
            </a:pPr>
            <a:r>
              <a:rPr sz="975" b="0">
                <a:solidFill>
                  <a:srgbClr val="667085"/>
                </a:solidFill>
              </a:rPr>
              <a:t>05</a:t>
            </a:r>
          </a:p>
        </p:txBody>
      </p:sp>
    </p:spTree>
    <p:extLst>
      <p:ext uri="{BB962C8B-B14F-4D97-AF65-F5344CB8AC3E}">
        <p14:creationId xmlns:p14="http://schemas.microsoft.com/office/powerpoint/2010/main" val="1398506760"/>
      </p:ext>
    </p:extLst>
  </p:cSld>
</p:sld>
</file>

<file path=ppt/slides/slide6.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E13A687-EC78-4065-AFFB-4DD48DF970EF}"/>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7131A75A-2751-453C-A978-C3C1EDD7F217}"/>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30000"/>
          </a:solidFill>
          <a:ln xmlns:a="http://schemas.openxmlformats.org/drawingml/2006/main" w="0">
            <a:solidFill>
              <a:srgbClr val="B30000"/>
            </a:solidFill>
            <a:prstDash val="solid"/>
          </a:ln>
        </p:spPr>
      </p:sp>
      <p:sp>
        <p:nvSpPr>
          <p:cNvPr id="3" name="">
            <a:extLst xmlns:a="http://schemas.openxmlformats.org/drawingml/2006/main">
              <a:ext uri="{FF2B5EF4-FFF2-40B4-BE49-F238E27FC236}">
                <a16:creationId xmlns:a16="http://schemas.microsoft.com/office/drawing/2014/main" id="{B2FF6BD4-B9DC-4FD7-88D4-B986B4C9E6CE}"/>
              </a:ext>
            </a:extLst>
          </p:cNvPr>
          <p:cNvSpPr>
            <a:spLocks xmlns:a="http://schemas.openxmlformats.org/drawingml/2006/main" noGrp="1"/>
          </p:cNvSpPr>
          <p:nvPr/>
        </p:nvSpPr>
        <p:spPr>
          <a:xfrm xmlns:a="http://schemas.openxmlformats.org/drawingml/2006/main">
            <a:off x="381000" y="361950"/>
            <a:ext cx="6858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2100" b="1">
                <a:solidFill>
                  <a:srgbClr val="B30000"/>
                </a:solidFill>
              </a:defRPr>
            </a:pPr>
            <a:r>
              <a:rPr sz="2100" b="1">
                <a:solidFill>
                  <a:srgbClr val="B30000"/>
                </a:solidFill>
              </a:rPr>
              <a:t>5. Gestion des commandes</a:t>
            </a:r>
          </a:p>
        </p:txBody>
      </p:sp>
      <p:sp>
        <p:nvSpPr>
          <p:cNvPr id="4" name="">
            <a:extLst xmlns:a="http://schemas.openxmlformats.org/drawingml/2006/main">
              <a:ext uri="{FF2B5EF4-FFF2-40B4-BE49-F238E27FC236}">
                <a16:creationId xmlns:a16="http://schemas.microsoft.com/office/drawing/2014/main" id="{806131A6-D7EC-49B2-A986-0420348930B2}"/>
              </a:ext>
            </a:extLst>
          </p:cNvPr>
          <p:cNvSpPr>
            <a:spLocks xmlns:a="http://schemas.openxmlformats.org/drawingml/2006/main" noGrp="1"/>
          </p:cNvSpPr>
          <p:nvPr/>
        </p:nvSpPr>
        <p:spPr>
          <a:xfrm xmlns:a="http://schemas.openxmlformats.org/drawingml/2006/main">
            <a:off x="381000" y="85725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1">
                <a:solidFill>
                  <a:srgbClr val="123B6B"/>
                </a:solidFill>
              </a:defRPr>
            </a:pPr>
            <a:r>
              <a:rPr sz="1200" b="1">
                <a:solidFill>
                  <a:srgbClr val="123B6B"/>
                </a:solidFill>
              </a:rPr>
              <a:t>Enregistrer les clients, les statuts et les montants</a:t>
            </a:r>
          </a:p>
        </p:txBody>
      </p:sp>
      <p:sp>
        <p:nvSpPr>
          <p:cNvPr id="5" name="">
            <a:extLst xmlns:a="http://schemas.openxmlformats.org/drawingml/2006/main">
              <a:ext uri="{FF2B5EF4-FFF2-40B4-BE49-F238E27FC236}">
                <a16:creationId xmlns:a16="http://schemas.microsoft.com/office/drawing/2014/main" id="{1B5DEC77-BD2A-414C-90A8-9D290CCCF260}"/>
              </a:ext>
            </a:extLst>
          </p:cNvPr>
          <p:cNvSpPr>
            <a:spLocks xmlns:a="http://schemas.openxmlformats.org/drawingml/2006/main" noGrp="1"/>
          </p:cNvSpPr>
          <p:nvPr/>
        </p:nvSpPr>
        <p:spPr>
          <a:xfrm xmlns:a="http://schemas.openxmlformats.org/drawingml/2006/main">
            <a:off x="381000" y="1390650"/>
            <a:ext cx="3943350" cy="4667250"/>
          </a:xfrm>
          <a:prstGeom xmlns:a="http://schemas.openxmlformats.org/drawingml/2006/main" prst="roundRect">
            <a:avLst>
              <a:gd name="adj" fmla="val 1932"/>
            </a:avLst>
          </a:prstGeom>
          <a:solidFill xmlns:a="http://schemas.openxmlformats.org/drawingml/2006/main">
            <a:srgbClr val="FFFFFF"/>
          </a:solidFill>
          <a:ln xmlns:a="http://schemas.openxmlformats.org/drawingml/2006/main" w="9525">
            <a:solidFill>
              <a:srgbClr val="D7DFEA"/>
            </a:solidFill>
            <a:prstDash val="solid"/>
          </a:ln>
        </p:spPr>
      </p:sp>
      <p:sp>
        <p:nvSpPr>
          <p:cNvPr id="6" name="">
            <a:extLst xmlns:a="http://schemas.openxmlformats.org/drawingml/2006/main">
              <a:ext uri="{FF2B5EF4-FFF2-40B4-BE49-F238E27FC236}">
                <a16:creationId xmlns:a16="http://schemas.microsoft.com/office/drawing/2014/main" id="{3250A34A-577F-4143-A0F4-D5BE491EF45B}"/>
              </a:ext>
            </a:extLst>
          </p:cNvPr>
          <p:cNvSpPr>
            <a:spLocks xmlns:a="http://schemas.openxmlformats.org/drawingml/2006/main" noGrp="1"/>
          </p:cNvSpPr>
          <p:nvPr/>
        </p:nvSpPr>
        <p:spPr>
          <a:xfrm xmlns:a="http://schemas.openxmlformats.org/drawingml/2006/main">
            <a:off x="552450" y="1524000"/>
            <a:ext cx="36004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350" b="1">
                <a:solidFill>
                  <a:srgbClr val="123B6B"/>
                </a:solidFill>
              </a:defRPr>
            </a:pPr>
            <a:r>
              <a:rPr sz="1350" b="1">
                <a:solidFill>
                  <a:srgbClr val="123B6B"/>
                </a:solidFill>
              </a:rPr>
              <a:t>À retenir</a:t>
            </a:r>
          </a:p>
        </p:txBody>
      </p:sp>
      <p:sp>
        <p:nvSpPr>
          <p:cNvPr id="7" name="">
            <a:extLst xmlns:a="http://schemas.openxmlformats.org/drawingml/2006/main">
              <a:ext uri="{FF2B5EF4-FFF2-40B4-BE49-F238E27FC236}">
                <a16:creationId xmlns:a16="http://schemas.microsoft.com/office/drawing/2014/main" id="{292FBC14-3841-495F-A22C-53BADC94C6FA}"/>
              </a:ext>
            </a:extLst>
          </p:cNvPr>
          <p:cNvSpPr>
            <a:spLocks xmlns:a="http://schemas.openxmlformats.org/drawingml/2006/main" noGrp="1"/>
          </p:cNvSpPr>
          <p:nvPr/>
        </p:nvSpPr>
        <p:spPr>
          <a:xfrm xmlns:a="http://schemas.openxmlformats.org/drawingml/2006/main">
            <a:off x="552450" y="1847850"/>
            <a:ext cx="3600450" cy="403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0">
                <a:solidFill>
                  <a:srgbClr val="1D2939"/>
                </a:solidFill>
              </a:defRPr>
            </a:pPr>
            <a:r>
              <a:rPr sz="1200" b="0">
                <a:solidFill>
                  <a:srgbClr val="1D2939"/>
                </a:solidFill>
              </a:rPr>
              <a:t>• Saisir la date, le client, le statut, le nombre de bacs et les montants.</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L'application calcule et mémorise les dettes à partir des montants à percevoir et reçus.</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 tableau historique aide à suivre toutes les commandes du jour ou des jours précédents.</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Les données de commandes alimentent ensuite la caisse, les commissions et les rapports.</a:t>
            </a:r>
          </a:p>
        </p:txBody>
      </p:sp>
      <p:sp>
        <p:nvSpPr>
          <p:cNvPr id="8" name="">
            <a:extLst xmlns:a="http://schemas.openxmlformats.org/drawingml/2006/main">
              <a:ext uri="{FF2B5EF4-FFF2-40B4-BE49-F238E27FC236}">
                <a16:creationId xmlns:a16="http://schemas.microsoft.com/office/drawing/2014/main" id="{5109314B-2E8A-483C-8105-A24E9058D33E}"/>
              </a:ext>
            </a:extLst>
          </p:cNvPr>
          <p:cNvSpPr>
            <a:spLocks xmlns:a="http://schemas.openxmlformats.org/drawingml/2006/main" noGrp="1"/>
          </p:cNvSpPr>
          <p:nvPr/>
        </p:nvSpPr>
        <p:spPr>
          <a:xfrm xmlns:a="http://schemas.openxmlformats.org/drawingml/2006/main">
            <a:off x="4686300" y="1504950"/>
            <a:ext cx="7219950" cy="4667250"/>
          </a:xfrm>
          <a:prstGeom xmlns:a="http://schemas.openxmlformats.org/drawingml/2006/main" prst="roundRect">
            <a:avLst>
              <a:gd name="adj" fmla="val 1633"/>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9" name="">
            <a:extLst xmlns:a="http://schemas.openxmlformats.org/drawingml/2006/main">
              <a:ext uri="{FF2B5EF4-FFF2-40B4-BE49-F238E27FC236}">
                <a16:creationId xmlns:a16="http://schemas.microsoft.com/office/drawing/2014/main" id="{85F206C1-6EE1-4B74-BA6E-9D67DCAAFD95}"/>
              </a:ext>
            </a:extLst>
          </p:cNvPr>
          <p:cNvSpPr>
            <a:spLocks xmlns:a="http://schemas.openxmlformats.org/drawingml/2006/main" noGrp="1"/>
          </p:cNvSpPr>
          <p:nvPr/>
        </p:nvSpPr>
        <p:spPr>
          <a:xfrm xmlns:a="http://schemas.openxmlformats.org/drawingml/2006/main">
            <a:off x="4591050" y="1390650"/>
            <a:ext cx="7219950" cy="4667250"/>
          </a:xfrm>
          <a:prstGeom xmlns:a="http://schemas.openxmlformats.org/drawingml/2006/main" prst="roundRect">
            <a:avLst>
              <a:gd name="adj" fmla="val 1633"/>
            </a:avLst>
          </a:prstGeom>
          <a:solidFill xmlns:a="http://schemas.openxmlformats.org/drawingml/2006/main">
            <a:srgbClr val="FFFFFF"/>
          </a:solidFill>
          <a:ln xmlns:a="http://schemas.openxmlformats.org/drawingml/2006/main" w="11430">
            <a:solidFill>
              <a:srgbClr val="D7DFE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b127f2e3f844d90"/>
          <a:stretch xmlns:a="http://schemas.openxmlformats.org/drawingml/2006/main"/>
        </p:blipFill>
        <p:spPr>
          <a:xfrm xmlns:a="http://schemas.openxmlformats.org/drawingml/2006/main">
            <a:off x="5131789" y="1543050"/>
            <a:ext cx="6138472" cy="41148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9338BB0-56A7-4DBE-87FF-8308E891C7FF}"/>
              </a:ext>
            </a:extLst>
          </p:cNvPr>
          <p:cNvSpPr>
            <a:spLocks xmlns:a="http://schemas.openxmlformats.org/drawingml/2006/main" noGrp="1"/>
          </p:cNvSpPr>
          <p:nvPr/>
        </p:nvSpPr>
        <p:spPr>
          <a:xfrm xmlns:a="http://schemas.openxmlformats.org/drawingml/2006/main">
            <a:off x="4743450" y="5715000"/>
            <a:ext cx="6915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00" b="0">
                <a:solidFill>
                  <a:srgbClr val="667085"/>
                </a:solidFill>
              </a:defRPr>
            </a:pPr>
            <a:r>
              <a:rPr sz="900" b="0">
                <a:solidFill>
                  <a:srgbClr val="667085"/>
                </a:solidFill>
              </a:rPr>
              <a:t>Le module commandes centralise les ventes, les dettes et le nombre de bacs.</a:t>
            </a:r>
          </a:p>
        </p:txBody>
      </p:sp>
      <p:sp>
        <p:nvSpPr>
          <p:cNvPr id="12" name="">
            <a:extLst xmlns:a="http://schemas.openxmlformats.org/drawingml/2006/main">
              <a:ext uri="{FF2B5EF4-FFF2-40B4-BE49-F238E27FC236}">
                <a16:creationId xmlns:a16="http://schemas.microsoft.com/office/drawing/2014/main" id="{5B66A7C1-F3A5-4FC0-AF93-4C2853A30145}"/>
              </a:ext>
            </a:extLst>
          </p:cNvPr>
          <p:cNvSpPr>
            <a:spLocks xmlns:a="http://schemas.openxmlformats.org/drawingml/2006/main" noGrp="1"/>
          </p:cNvSpPr>
          <p:nvPr/>
        </p:nvSpPr>
        <p:spPr>
          <a:xfrm xmlns:a="http://schemas.openxmlformats.org/drawingml/2006/main">
            <a:off x="342900" y="64389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75" b="0">
                <a:solidFill>
                  <a:srgbClr val="667085"/>
                </a:solidFill>
              </a:defRPr>
            </a:pPr>
            <a:r>
              <a:rPr sz="975" b="0">
                <a:solidFill>
                  <a:srgbClr val="667085"/>
                </a:solidFill>
              </a:rPr>
              <a:t>Boulangerie Lomoto  |  Guide utilisateur</a:t>
            </a:r>
          </a:p>
        </p:txBody>
      </p:sp>
      <p:sp>
        <p:nvSpPr>
          <p:cNvPr id="13" name="">
            <a:extLst xmlns:a="http://schemas.openxmlformats.org/drawingml/2006/main">
              <a:ext uri="{FF2B5EF4-FFF2-40B4-BE49-F238E27FC236}">
                <a16:creationId xmlns:a16="http://schemas.microsoft.com/office/drawing/2014/main" id="{A63732E2-242A-4862-A8DC-7F922AC0174E}"/>
              </a:ext>
            </a:extLst>
          </p:cNvPr>
          <p:cNvSpPr>
            <a:spLocks xmlns:a="http://schemas.openxmlformats.org/drawingml/2006/main" noGrp="1"/>
          </p:cNvSpPr>
          <p:nvPr/>
        </p:nvSpPr>
        <p:spPr>
          <a:xfrm xmlns:a="http://schemas.openxmlformats.org/drawingml/2006/main">
            <a:off x="11239500" y="6400800"/>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r">
              <a:defRPr sz="975" b="0">
                <a:solidFill>
                  <a:srgbClr val="667085"/>
                </a:solidFill>
              </a:defRPr>
            </a:pPr>
            <a:r>
              <a:rPr sz="975" b="0">
                <a:solidFill>
                  <a:srgbClr val="667085"/>
                </a:solidFill>
              </a:rPr>
              <a:t>06</a:t>
            </a:r>
          </a:p>
        </p:txBody>
      </p:sp>
    </p:spTree>
    <p:extLst>
      <p:ext uri="{BB962C8B-B14F-4D97-AF65-F5344CB8AC3E}">
        <p14:creationId xmlns:p14="http://schemas.microsoft.com/office/powerpoint/2010/main" val="519172246"/>
      </p:ext>
    </p:extLst>
  </p:cSld>
</p:sld>
</file>

<file path=ppt/slides/slide7.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E13A687-EC78-4065-AFFB-4DD48DF970EF}"/>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1717BE07-F85E-436A-B8F0-BE1BB902B3C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30000"/>
          </a:solidFill>
          <a:ln xmlns:a="http://schemas.openxmlformats.org/drawingml/2006/main" w="0">
            <a:solidFill>
              <a:srgbClr val="B30000"/>
            </a:solidFill>
            <a:prstDash val="solid"/>
          </a:ln>
        </p:spPr>
      </p:sp>
      <p:sp>
        <p:nvSpPr>
          <p:cNvPr id="3" name="">
            <a:extLst xmlns:a="http://schemas.openxmlformats.org/drawingml/2006/main">
              <a:ext uri="{FF2B5EF4-FFF2-40B4-BE49-F238E27FC236}">
                <a16:creationId xmlns:a16="http://schemas.microsoft.com/office/drawing/2014/main" id="{DA5E5A50-38B6-44E2-A04B-5F4B49801DDE}"/>
              </a:ext>
            </a:extLst>
          </p:cNvPr>
          <p:cNvSpPr>
            <a:spLocks xmlns:a="http://schemas.openxmlformats.org/drawingml/2006/main" noGrp="1"/>
          </p:cNvSpPr>
          <p:nvPr/>
        </p:nvSpPr>
        <p:spPr>
          <a:xfrm xmlns:a="http://schemas.openxmlformats.org/drawingml/2006/main">
            <a:off x="381000" y="361950"/>
            <a:ext cx="6858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2100" b="1">
                <a:solidFill>
                  <a:srgbClr val="B30000"/>
                </a:solidFill>
              </a:defRPr>
            </a:pPr>
            <a:r>
              <a:rPr sz="2100" b="1">
                <a:solidFill>
                  <a:srgbClr val="B30000"/>
                </a:solidFill>
              </a:rPr>
              <a:t>6. Caisse et commissions</a:t>
            </a:r>
          </a:p>
        </p:txBody>
      </p:sp>
      <p:sp>
        <p:nvSpPr>
          <p:cNvPr id="4" name="">
            <a:extLst xmlns:a="http://schemas.openxmlformats.org/drawingml/2006/main">
              <a:ext uri="{FF2B5EF4-FFF2-40B4-BE49-F238E27FC236}">
                <a16:creationId xmlns:a16="http://schemas.microsoft.com/office/drawing/2014/main" id="{D4B1CA29-5B78-467E-9677-2C86D9D9A155}"/>
              </a:ext>
            </a:extLst>
          </p:cNvPr>
          <p:cNvSpPr>
            <a:spLocks xmlns:a="http://schemas.openxmlformats.org/drawingml/2006/main" noGrp="1"/>
          </p:cNvSpPr>
          <p:nvPr/>
        </p:nvSpPr>
        <p:spPr>
          <a:xfrm xmlns:a="http://schemas.openxmlformats.org/drawingml/2006/main">
            <a:off x="381000" y="85725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1">
                <a:solidFill>
                  <a:srgbClr val="123B6B"/>
                </a:solidFill>
              </a:defRPr>
            </a:pPr>
            <a:r>
              <a:rPr sz="1200" b="1">
                <a:solidFill>
                  <a:srgbClr val="123B6B"/>
                </a:solidFill>
              </a:rPr>
              <a:t>Suivre les dépenses et les paiements liés à l'activité</a:t>
            </a:r>
          </a:p>
        </p:txBody>
      </p:sp>
      <p:sp>
        <p:nvSpPr>
          <p:cNvPr id="5" name="">
            <a:extLst xmlns:a="http://schemas.openxmlformats.org/drawingml/2006/main">
              <a:ext uri="{FF2B5EF4-FFF2-40B4-BE49-F238E27FC236}">
                <a16:creationId xmlns:a16="http://schemas.microsoft.com/office/drawing/2014/main" id="{FDA4722F-9EFE-49EE-A758-47C06FCEBAD2}"/>
              </a:ext>
            </a:extLst>
          </p:cNvPr>
          <p:cNvSpPr>
            <a:spLocks xmlns:a="http://schemas.openxmlformats.org/drawingml/2006/main" noGrp="1"/>
          </p:cNvSpPr>
          <p:nvPr/>
        </p:nvSpPr>
        <p:spPr>
          <a:xfrm xmlns:a="http://schemas.openxmlformats.org/drawingml/2006/main">
            <a:off x="381000" y="1390650"/>
            <a:ext cx="3143250" cy="4667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7DFEA"/>
            </a:solidFill>
            <a:prstDash val="solid"/>
          </a:ln>
        </p:spPr>
      </p:sp>
      <p:sp>
        <p:nvSpPr>
          <p:cNvPr id="6" name="">
            <a:extLst xmlns:a="http://schemas.openxmlformats.org/drawingml/2006/main">
              <a:ext uri="{FF2B5EF4-FFF2-40B4-BE49-F238E27FC236}">
                <a16:creationId xmlns:a16="http://schemas.microsoft.com/office/drawing/2014/main" id="{D12B3D67-1F3F-4603-8E1F-B07EC5911AE5}"/>
              </a:ext>
            </a:extLst>
          </p:cNvPr>
          <p:cNvSpPr>
            <a:spLocks xmlns:a="http://schemas.openxmlformats.org/drawingml/2006/main" noGrp="1"/>
          </p:cNvSpPr>
          <p:nvPr/>
        </p:nvSpPr>
        <p:spPr>
          <a:xfrm xmlns:a="http://schemas.openxmlformats.org/drawingml/2006/main">
            <a:off x="552450" y="1524000"/>
            <a:ext cx="2800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350" b="1">
                <a:solidFill>
                  <a:srgbClr val="123B6B"/>
                </a:solidFill>
              </a:defRPr>
            </a:pPr>
            <a:r>
              <a:rPr sz="1350" b="1">
                <a:solidFill>
                  <a:srgbClr val="123B6B"/>
                </a:solidFill>
              </a:rPr>
              <a:t>À retenir</a:t>
            </a:r>
          </a:p>
        </p:txBody>
      </p:sp>
      <p:sp>
        <p:nvSpPr>
          <p:cNvPr id="7" name="">
            <a:extLst xmlns:a="http://schemas.openxmlformats.org/drawingml/2006/main">
              <a:ext uri="{FF2B5EF4-FFF2-40B4-BE49-F238E27FC236}">
                <a16:creationId xmlns:a16="http://schemas.microsoft.com/office/drawing/2014/main" id="{23FF2DC5-0B7C-4B7F-B182-A1282EB90F71}"/>
              </a:ext>
            </a:extLst>
          </p:cNvPr>
          <p:cNvSpPr>
            <a:spLocks xmlns:a="http://schemas.openxmlformats.org/drawingml/2006/main" noGrp="1"/>
          </p:cNvSpPr>
          <p:nvPr/>
        </p:nvSpPr>
        <p:spPr>
          <a:xfrm xmlns:a="http://schemas.openxmlformats.org/drawingml/2006/main">
            <a:off x="552450" y="1847850"/>
            <a:ext cx="2800350" cy="403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0">
                <a:solidFill>
                  <a:srgbClr val="1D2939"/>
                </a:solidFill>
              </a:defRPr>
            </a:pPr>
            <a:r>
              <a:rPr sz="1200" b="0">
                <a:solidFill>
                  <a:srgbClr val="1D2939"/>
                </a:solidFill>
              </a:rPr>
              <a:t>• La caisse reprend les montants attendus, reçus, les dettes et les dépenses du jour.</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Les commissions sont calculées à partir des commandes et peuvent être suivies par nom.</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Les tableaux historiques facilitent le contrôle et les corrections.</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Ces modules servent de base aux synthèses et aux exports.</a:t>
            </a:r>
          </a:p>
        </p:txBody>
      </p:sp>
      <p:sp>
        <p:nvSpPr>
          <p:cNvPr id="8" name="">
            <a:extLst xmlns:a="http://schemas.openxmlformats.org/drawingml/2006/main">
              <a:ext uri="{FF2B5EF4-FFF2-40B4-BE49-F238E27FC236}">
                <a16:creationId xmlns:a16="http://schemas.microsoft.com/office/drawing/2014/main" id="{711D0EBE-3F0F-47FD-B284-D2BC4F8FCEAD}"/>
              </a:ext>
            </a:extLst>
          </p:cNvPr>
          <p:cNvSpPr>
            <a:spLocks xmlns:a="http://schemas.openxmlformats.org/drawingml/2006/main" noGrp="1"/>
          </p:cNvSpPr>
          <p:nvPr/>
        </p:nvSpPr>
        <p:spPr>
          <a:xfrm xmlns:a="http://schemas.openxmlformats.org/drawingml/2006/main">
            <a:off x="3886200" y="1504950"/>
            <a:ext cx="3790950" cy="4667250"/>
          </a:xfrm>
          <a:prstGeom xmlns:a="http://schemas.openxmlformats.org/drawingml/2006/main" prst="roundRect">
            <a:avLst>
              <a:gd name="adj" fmla="val 2010"/>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9" name="">
            <a:extLst xmlns:a="http://schemas.openxmlformats.org/drawingml/2006/main">
              <a:ext uri="{FF2B5EF4-FFF2-40B4-BE49-F238E27FC236}">
                <a16:creationId xmlns:a16="http://schemas.microsoft.com/office/drawing/2014/main" id="{F1150F53-1916-4821-9045-9FE38C065359}"/>
              </a:ext>
            </a:extLst>
          </p:cNvPr>
          <p:cNvSpPr>
            <a:spLocks xmlns:a="http://schemas.openxmlformats.org/drawingml/2006/main" noGrp="1"/>
          </p:cNvSpPr>
          <p:nvPr/>
        </p:nvSpPr>
        <p:spPr>
          <a:xfrm xmlns:a="http://schemas.openxmlformats.org/drawingml/2006/main">
            <a:off x="3790950" y="1390650"/>
            <a:ext cx="3790950" cy="46672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11430">
            <a:solidFill>
              <a:srgbClr val="D7DFE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56c71e7318d44708"/>
          <a:stretch xmlns:a="http://schemas.openxmlformats.org/drawingml/2006/main"/>
        </p:blipFill>
        <p:spPr>
          <a:xfrm xmlns:a="http://schemas.openxmlformats.org/drawingml/2006/main">
            <a:off x="3943350" y="2506520"/>
            <a:ext cx="3486150" cy="218786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0E85D79B-85D8-4EBA-A5CF-F64EBEB08FDE}"/>
              </a:ext>
            </a:extLst>
          </p:cNvPr>
          <p:cNvSpPr>
            <a:spLocks xmlns:a="http://schemas.openxmlformats.org/drawingml/2006/main" noGrp="1"/>
          </p:cNvSpPr>
          <p:nvPr/>
        </p:nvSpPr>
        <p:spPr>
          <a:xfrm xmlns:a="http://schemas.openxmlformats.org/drawingml/2006/main">
            <a:off x="3943350" y="5715000"/>
            <a:ext cx="3486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00" b="0">
                <a:solidFill>
                  <a:srgbClr val="667085"/>
                </a:solidFill>
              </a:defRPr>
            </a:pPr>
            <a:r>
              <a:rPr sz="900" b="0">
                <a:solidFill>
                  <a:srgbClr val="667085"/>
                </a:solidFill>
              </a:rPr>
              <a:t>La caisse enregistre les dépenses journalières et le solde.</a:t>
            </a:r>
          </a:p>
        </p:txBody>
      </p:sp>
      <p:sp>
        <p:nvSpPr>
          <p:cNvPr id="12" name="">
            <a:extLst xmlns:a="http://schemas.openxmlformats.org/drawingml/2006/main">
              <a:ext uri="{FF2B5EF4-FFF2-40B4-BE49-F238E27FC236}">
                <a16:creationId xmlns:a16="http://schemas.microsoft.com/office/drawing/2014/main" id="{4ADF1565-273B-48D0-BCC3-988BE198560D}"/>
              </a:ext>
            </a:extLst>
          </p:cNvPr>
          <p:cNvSpPr>
            <a:spLocks xmlns:a="http://schemas.openxmlformats.org/drawingml/2006/main" noGrp="1"/>
          </p:cNvSpPr>
          <p:nvPr/>
        </p:nvSpPr>
        <p:spPr>
          <a:xfrm xmlns:a="http://schemas.openxmlformats.org/drawingml/2006/main">
            <a:off x="7943850" y="1504950"/>
            <a:ext cx="3962400" cy="4667250"/>
          </a:xfrm>
          <a:prstGeom xmlns:a="http://schemas.openxmlformats.org/drawingml/2006/main" prst="roundRect">
            <a:avLst>
              <a:gd name="adj" fmla="val 1923"/>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13" name="">
            <a:extLst xmlns:a="http://schemas.openxmlformats.org/drawingml/2006/main">
              <a:ext uri="{FF2B5EF4-FFF2-40B4-BE49-F238E27FC236}">
                <a16:creationId xmlns:a16="http://schemas.microsoft.com/office/drawing/2014/main" id="{91BA6C13-05B1-46DB-B76F-E55BDFEE1D16}"/>
              </a:ext>
            </a:extLst>
          </p:cNvPr>
          <p:cNvSpPr>
            <a:spLocks xmlns:a="http://schemas.openxmlformats.org/drawingml/2006/main" noGrp="1"/>
          </p:cNvSpPr>
          <p:nvPr/>
        </p:nvSpPr>
        <p:spPr>
          <a:xfrm xmlns:a="http://schemas.openxmlformats.org/drawingml/2006/main">
            <a:off x="7848600" y="1390650"/>
            <a:ext cx="3962400" cy="4667250"/>
          </a:xfrm>
          <a:prstGeom xmlns:a="http://schemas.openxmlformats.org/drawingml/2006/main" prst="roundRect">
            <a:avLst>
              <a:gd name="adj" fmla="val 1923"/>
            </a:avLst>
          </a:prstGeom>
          <a:solidFill xmlns:a="http://schemas.openxmlformats.org/drawingml/2006/main">
            <a:srgbClr val="FFFFFF"/>
          </a:solidFill>
          <a:ln xmlns:a="http://schemas.openxmlformats.org/drawingml/2006/main" w="11430">
            <a:solidFill>
              <a:srgbClr val="D7DFEA"/>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0a503426cfc4c77"/>
          <a:stretch xmlns:a="http://schemas.openxmlformats.org/drawingml/2006/main"/>
        </p:blipFill>
        <p:spPr>
          <a:xfrm xmlns:a="http://schemas.openxmlformats.org/drawingml/2006/main">
            <a:off x="8001000" y="2394502"/>
            <a:ext cx="3657600" cy="2411896"/>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BD964183-A703-43B1-A166-D6268E00B532}"/>
              </a:ext>
            </a:extLst>
          </p:cNvPr>
          <p:cNvSpPr>
            <a:spLocks xmlns:a="http://schemas.openxmlformats.org/drawingml/2006/main" noGrp="1"/>
          </p:cNvSpPr>
          <p:nvPr/>
        </p:nvSpPr>
        <p:spPr>
          <a:xfrm xmlns:a="http://schemas.openxmlformats.org/drawingml/2006/main">
            <a:off x="8001000" y="5715000"/>
            <a:ext cx="3657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00" b="0">
                <a:solidFill>
                  <a:srgbClr val="667085"/>
                </a:solidFill>
              </a:defRPr>
            </a:pPr>
            <a:r>
              <a:rPr sz="900" b="0">
                <a:solidFill>
                  <a:srgbClr val="667085"/>
                </a:solidFill>
              </a:rPr>
              <a:t>Les commissions synthétisent les montants payés, les dettes et le net à payer.</a:t>
            </a:r>
          </a:p>
        </p:txBody>
      </p:sp>
      <p:sp>
        <p:nvSpPr>
          <p:cNvPr id="16" name="">
            <a:extLst xmlns:a="http://schemas.openxmlformats.org/drawingml/2006/main">
              <a:ext uri="{FF2B5EF4-FFF2-40B4-BE49-F238E27FC236}">
                <a16:creationId xmlns:a16="http://schemas.microsoft.com/office/drawing/2014/main" id="{83A06AEA-E16A-4CC2-B466-D1F80E1E7E93}"/>
              </a:ext>
            </a:extLst>
          </p:cNvPr>
          <p:cNvSpPr>
            <a:spLocks xmlns:a="http://schemas.openxmlformats.org/drawingml/2006/main" noGrp="1"/>
          </p:cNvSpPr>
          <p:nvPr/>
        </p:nvSpPr>
        <p:spPr>
          <a:xfrm xmlns:a="http://schemas.openxmlformats.org/drawingml/2006/main">
            <a:off x="342900" y="64389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75" b="0">
                <a:solidFill>
                  <a:srgbClr val="667085"/>
                </a:solidFill>
              </a:defRPr>
            </a:pPr>
            <a:r>
              <a:rPr sz="975" b="0">
                <a:solidFill>
                  <a:srgbClr val="667085"/>
                </a:solidFill>
              </a:rPr>
              <a:t>Boulangerie Lomoto  |  Guide utilisateur</a:t>
            </a:r>
          </a:p>
        </p:txBody>
      </p:sp>
      <p:sp>
        <p:nvSpPr>
          <p:cNvPr id="17" name="">
            <a:extLst xmlns:a="http://schemas.openxmlformats.org/drawingml/2006/main">
              <a:ext uri="{FF2B5EF4-FFF2-40B4-BE49-F238E27FC236}">
                <a16:creationId xmlns:a16="http://schemas.microsoft.com/office/drawing/2014/main" id="{706BB295-9F73-4662-8207-EB061B66AA10}"/>
              </a:ext>
            </a:extLst>
          </p:cNvPr>
          <p:cNvSpPr>
            <a:spLocks xmlns:a="http://schemas.openxmlformats.org/drawingml/2006/main" noGrp="1"/>
          </p:cNvSpPr>
          <p:nvPr/>
        </p:nvSpPr>
        <p:spPr>
          <a:xfrm xmlns:a="http://schemas.openxmlformats.org/drawingml/2006/main">
            <a:off x="11239500" y="6400800"/>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r">
              <a:defRPr sz="975" b="0">
                <a:solidFill>
                  <a:srgbClr val="667085"/>
                </a:solidFill>
              </a:defRPr>
            </a:pPr>
            <a:r>
              <a:rPr sz="975" b="0">
                <a:solidFill>
                  <a:srgbClr val="667085"/>
                </a:solidFill>
              </a:rPr>
              <a:t>07</a:t>
            </a:r>
          </a:p>
        </p:txBody>
      </p:sp>
    </p:spTree>
    <p:extLst>
      <p:ext uri="{BB962C8B-B14F-4D97-AF65-F5344CB8AC3E}">
        <p14:creationId xmlns:p14="http://schemas.microsoft.com/office/powerpoint/2010/main" val="1291514370"/>
      </p:ext>
    </p:extLst>
  </p:cSld>
</p:sld>
</file>

<file path=ppt/slides/slide8.xml><?xml version="1.0" encoding="utf-8"?>
<p:sld xmlns:p="http://schemas.openxmlformats.org/presentationml/2006/main">
  <p:cSld>
    <p:bg>
      <p:bgPr>
        <a:solidFill xmlns:a="http://schemas.openxmlformats.org/drawingml/2006/main">
          <a:srgbClr val="F4F7FB"/>
        </a:solidFill>
      </p:bgPr>
    </p:bg>
    <p:spTree>
      <p:nvGrpSpPr>
        <p:cNvPr id="1" name=""/>
        <p:cNvGrpSpPr/>
        <p:nvPr/>
      </p:nvGrpSpPr>
      <p:grpSpPr>
        <a:xfrm xmlns:a="http://schemas.openxmlformats.org/drawingml/2006/main"/>
      </p:grpSpPr>
      <p:sp>
        <p:nvSpPr>
          <p:cNvPr id="1" name="Slide Number Placeholder 5">
            <a:extLst xmlns:a="http://schemas.openxmlformats.org/drawingml/2006/main">
              <a:ext uri="{FF2B5EF4-FFF2-40B4-BE49-F238E27FC236}">
                <a16:creationId xmlns:a16="http://schemas.microsoft.com/office/drawing/2014/main" id="{BE13A687-EC78-4065-AFFB-4DD48DF970EF}"/>
              </a:ext>
            </a:extLst>
          </p:cNvPr>
          <p:cNvSpPr>
            <a:spLocks xmlns:a="http://schemas.openxmlformats.org/drawingml/2006/main" noGrp="1"/>
          </p:cNvSpPr>
          <p:nvPr>
            <p:ph type="sldNum" idx="12"/>
          </p:nvPr>
        </p:nvSpPr>
        <p:spPr>
          <a:xfrm xmlns:a="http://schemas.openxmlformats.org/drawingml/2006/main">
            <a:off x="1524000" y="1122363"/>
            <a:ext cx="9144000" cy="2387600"/>
          </a:xfrm>
        </p:spPr>
        <p:txBody>
          <a:bodyPr xmlns:a="http://schemas.openxmlformats.org/drawingml/2006/main"/>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992D746B-8DD3-4AE9-858B-327055F7D83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B30000"/>
          </a:solidFill>
          <a:ln xmlns:a="http://schemas.openxmlformats.org/drawingml/2006/main" w="0">
            <a:solidFill>
              <a:srgbClr val="B30000"/>
            </a:solidFill>
            <a:prstDash val="solid"/>
          </a:ln>
        </p:spPr>
      </p:sp>
      <p:sp>
        <p:nvSpPr>
          <p:cNvPr id="3" name="">
            <a:extLst xmlns:a="http://schemas.openxmlformats.org/drawingml/2006/main">
              <a:ext uri="{FF2B5EF4-FFF2-40B4-BE49-F238E27FC236}">
                <a16:creationId xmlns:a16="http://schemas.microsoft.com/office/drawing/2014/main" id="{321D0125-8706-47DC-B29D-5A1CDB1482F5}"/>
              </a:ext>
            </a:extLst>
          </p:cNvPr>
          <p:cNvSpPr>
            <a:spLocks xmlns:a="http://schemas.openxmlformats.org/drawingml/2006/main" noGrp="1"/>
          </p:cNvSpPr>
          <p:nvPr/>
        </p:nvSpPr>
        <p:spPr>
          <a:xfrm xmlns:a="http://schemas.openxmlformats.org/drawingml/2006/main">
            <a:off x="381000" y="361950"/>
            <a:ext cx="685800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2100" b="1">
                <a:solidFill>
                  <a:srgbClr val="B30000"/>
                </a:solidFill>
              </a:defRPr>
            </a:pPr>
            <a:r>
              <a:rPr sz="2100" b="1">
                <a:solidFill>
                  <a:srgbClr val="B30000"/>
                </a:solidFill>
              </a:rPr>
              <a:t>7. Rapports PDF et Excel</a:t>
            </a:r>
          </a:p>
        </p:txBody>
      </p:sp>
      <p:sp>
        <p:nvSpPr>
          <p:cNvPr id="4" name="">
            <a:extLst xmlns:a="http://schemas.openxmlformats.org/drawingml/2006/main">
              <a:ext uri="{FF2B5EF4-FFF2-40B4-BE49-F238E27FC236}">
                <a16:creationId xmlns:a16="http://schemas.microsoft.com/office/drawing/2014/main" id="{18100863-624D-4C93-A78A-8D111BC00D79}"/>
              </a:ext>
            </a:extLst>
          </p:cNvPr>
          <p:cNvSpPr>
            <a:spLocks xmlns:a="http://schemas.openxmlformats.org/drawingml/2006/main" noGrp="1"/>
          </p:cNvSpPr>
          <p:nvPr/>
        </p:nvSpPr>
        <p:spPr>
          <a:xfrm xmlns:a="http://schemas.openxmlformats.org/drawingml/2006/main">
            <a:off x="381000" y="857250"/>
            <a:ext cx="7239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1">
                <a:solidFill>
                  <a:srgbClr val="123B6B"/>
                </a:solidFill>
              </a:defRPr>
            </a:pPr>
            <a:r>
              <a:rPr sz="1200" b="1">
                <a:solidFill>
                  <a:srgbClr val="123B6B"/>
                </a:solidFill>
              </a:rPr>
              <a:t>Produire des documents clairs pour l'impression ou le partage</a:t>
            </a:r>
          </a:p>
        </p:txBody>
      </p:sp>
      <p:sp>
        <p:nvSpPr>
          <p:cNvPr id="5" name="">
            <a:extLst xmlns:a="http://schemas.openxmlformats.org/drawingml/2006/main">
              <a:ext uri="{FF2B5EF4-FFF2-40B4-BE49-F238E27FC236}">
                <a16:creationId xmlns:a16="http://schemas.microsoft.com/office/drawing/2014/main" id="{95286AB8-5E05-404F-A2F4-9216273153EC}"/>
              </a:ext>
            </a:extLst>
          </p:cNvPr>
          <p:cNvSpPr>
            <a:spLocks xmlns:a="http://schemas.openxmlformats.org/drawingml/2006/main" noGrp="1"/>
          </p:cNvSpPr>
          <p:nvPr/>
        </p:nvSpPr>
        <p:spPr>
          <a:xfrm xmlns:a="http://schemas.openxmlformats.org/drawingml/2006/main">
            <a:off x="381000" y="1390650"/>
            <a:ext cx="3143250" cy="4667250"/>
          </a:xfrm>
          <a:prstGeom xmlns:a="http://schemas.openxmlformats.org/drawingml/2006/main" prst="roundRect">
            <a:avLst>
              <a:gd name="adj" fmla="val 2424"/>
            </a:avLst>
          </a:prstGeom>
          <a:solidFill xmlns:a="http://schemas.openxmlformats.org/drawingml/2006/main">
            <a:srgbClr val="FFFFFF"/>
          </a:solidFill>
          <a:ln xmlns:a="http://schemas.openxmlformats.org/drawingml/2006/main" w="9525">
            <a:solidFill>
              <a:srgbClr val="D7DFEA"/>
            </a:solidFill>
            <a:prstDash val="solid"/>
          </a:ln>
        </p:spPr>
      </p:sp>
      <p:sp>
        <p:nvSpPr>
          <p:cNvPr id="6" name="">
            <a:extLst xmlns:a="http://schemas.openxmlformats.org/drawingml/2006/main">
              <a:ext uri="{FF2B5EF4-FFF2-40B4-BE49-F238E27FC236}">
                <a16:creationId xmlns:a16="http://schemas.microsoft.com/office/drawing/2014/main" id="{FFC28359-DF73-406B-B188-80A3BBE64F4B}"/>
              </a:ext>
            </a:extLst>
          </p:cNvPr>
          <p:cNvSpPr>
            <a:spLocks xmlns:a="http://schemas.openxmlformats.org/drawingml/2006/main" noGrp="1"/>
          </p:cNvSpPr>
          <p:nvPr/>
        </p:nvSpPr>
        <p:spPr>
          <a:xfrm xmlns:a="http://schemas.openxmlformats.org/drawingml/2006/main">
            <a:off x="552450" y="1524000"/>
            <a:ext cx="28003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350" b="1">
                <a:solidFill>
                  <a:srgbClr val="123B6B"/>
                </a:solidFill>
              </a:defRPr>
            </a:pPr>
            <a:r>
              <a:rPr sz="1350" b="1">
                <a:solidFill>
                  <a:srgbClr val="123B6B"/>
                </a:solidFill>
              </a:rPr>
              <a:t>À retenir</a:t>
            </a:r>
          </a:p>
        </p:txBody>
      </p:sp>
      <p:sp>
        <p:nvSpPr>
          <p:cNvPr id="7" name="">
            <a:extLst xmlns:a="http://schemas.openxmlformats.org/drawingml/2006/main">
              <a:ext uri="{FF2B5EF4-FFF2-40B4-BE49-F238E27FC236}">
                <a16:creationId xmlns:a16="http://schemas.microsoft.com/office/drawing/2014/main" id="{4F01338E-B8C5-4B00-A6ED-BB430DDB46FE}"/>
              </a:ext>
            </a:extLst>
          </p:cNvPr>
          <p:cNvSpPr>
            <a:spLocks xmlns:a="http://schemas.openxmlformats.org/drawingml/2006/main" noGrp="1"/>
          </p:cNvSpPr>
          <p:nvPr/>
        </p:nvSpPr>
        <p:spPr>
          <a:xfrm xmlns:a="http://schemas.openxmlformats.org/drawingml/2006/main">
            <a:off x="552450" y="1847850"/>
            <a:ext cx="2800350" cy="403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t"/>
          <a:lstStyle xmlns:a="http://schemas.openxmlformats.org/drawingml/2006/main"/>
          <a:p xmlns:a="http://schemas.openxmlformats.org/drawingml/2006/main">
            <a:pPr algn="l">
              <a:defRPr sz="1200" b="0">
                <a:solidFill>
                  <a:srgbClr val="1D2939"/>
                </a:solidFill>
              </a:defRPr>
            </a:pPr>
            <a:r>
              <a:rPr sz="1200" b="0">
                <a:solidFill>
                  <a:srgbClr val="1D2939"/>
                </a:solidFill>
              </a:rPr>
              <a:t>• Choisir la date puis lancer la génération du rapport souhaité.</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 contenu du rapport s'adapte automatiquement au rôle de l'utilisateur connecté.</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 PDF est pratique pour l'impression et l'archivage.</a:t>
            </a:r>
          </a:p>
          <a:p xmlns:a="http://schemas.openxmlformats.org/drawingml/2006/main">
            <a:r>
              <a:t/>
            </a:r>
          </a:p>
          <a:p xmlns:a="http://schemas.openxmlformats.org/drawingml/2006/main">
            <a:pPr algn="l">
              <a:defRPr sz="1200" b="0">
                <a:solidFill>
                  <a:srgbClr val="1D2939"/>
                </a:solidFill>
              </a:defRPr>
            </a:pPr>
            <a:r>
              <a:rPr sz="1200" b="0">
                <a:solidFill>
                  <a:srgbClr val="1D2939"/>
                </a:solidFill>
              </a:rPr>
              <a:t>• Le format Excel facilite le partage, les calculs et les analyses complémentaires.</a:t>
            </a:r>
          </a:p>
        </p:txBody>
      </p:sp>
      <p:sp>
        <p:nvSpPr>
          <p:cNvPr id="8" name="">
            <a:extLst xmlns:a="http://schemas.openxmlformats.org/drawingml/2006/main">
              <a:ext uri="{FF2B5EF4-FFF2-40B4-BE49-F238E27FC236}">
                <a16:creationId xmlns:a16="http://schemas.microsoft.com/office/drawing/2014/main" id="{B7E6961F-4E9D-41D2-A275-7A3E549F964C}"/>
              </a:ext>
            </a:extLst>
          </p:cNvPr>
          <p:cNvSpPr>
            <a:spLocks xmlns:a="http://schemas.openxmlformats.org/drawingml/2006/main" noGrp="1"/>
          </p:cNvSpPr>
          <p:nvPr/>
        </p:nvSpPr>
        <p:spPr>
          <a:xfrm xmlns:a="http://schemas.openxmlformats.org/drawingml/2006/main">
            <a:off x="3886200" y="1504950"/>
            <a:ext cx="3790950" cy="4667250"/>
          </a:xfrm>
          <a:prstGeom xmlns:a="http://schemas.openxmlformats.org/drawingml/2006/main" prst="roundRect">
            <a:avLst>
              <a:gd name="adj" fmla="val 2010"/>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9" name="">
            <a:extLst xmlns:a="http://schemas.openxmlformats.org/drawingml/2006/main">
              <a:ext uri="{FF2B5EF4-FFF2-40B4-BE49-F238E27FC236}">
                <a16:creationId xmlns:a16="http://schemas.microsoft.com/office/drawing/2014/main" id="{7B98B15D-1FA9-4A66-97FB-64C1940FAA3B}"/>
              </a:ext>
            </a:extLst>
          </p:cNvPr>
          <p:cNvSpPr>
            <a:spLocks xmlns:a="http://schemas.openxmlformats.org/drawingml/2006/main" noGrp="1"/>
          </p:cNvSpPr>
          <p:nvPr/>
        </p:nvSpPr>
        <p:spPr>
          <a:xfrm xmlns:a="http://schemas.openxmlformats.org/drawingml/2006/main">
            <a:off x="3790950" y="1390650"/>
            <a:ext cx="3790950" cy="4667250"/>
          </a:xfrm>
          <a:prstGeom xmlns:a="http://schemas.openxmlformats.org/drawingml/2006/main" prst="roundRect">
            <a:avLst>
              <a:gd name="adj" fmla="val 2010"/>
            </a:avLst>
          </a:prstGeom>
          <a:solidFill xmlns:a="http://schemas.openxmlformats.org/drawingml/2006/main">
            <a:srgbClr val="FFFFFF"/>
          </a:solidFill>
          <a:ln xmlns:a="http://schemas.openxmlformats.org/drawingml/2006/main" w="11430">
            <a:solidFill>
              <a:srgbClr val="D7DFEA"/>
            </a:solid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d66aacdf7e35432f"/>
          <a:stretch xmlns:a="http://schemas.openxmlformats.org/drawingml/2006/main"/>
        </p:blipFill>
        <p:spPr>
          <a:xfrm xmlns:a="http://schemas.openxmlformats.org/drawingml/2006/main">
            <a:off x="3943350" y="2082288"/>
            <a:ext cx="3486150" cy="3036324"/>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8B416E9E-E9EE-4B47-9E2B-97E15356BB4A}"/>
              </a:ext>
            </a:extLst>
          </p:cNvPr>
          <p:cNvSpPr>
            <a:spLocks xmlns:a="http://schemas.openxmlformats.org/drawingml/2006/main" noGrp="1"/>
          </p:cNvSpPr>
          <p:nvPr/>
        </p:nvSpPr>
        <p:spPr>
          <a:xfrm xmlns:a="http://schemas.openxmlformats.org/drawingml/2006/main">
            <a:off x="3943350" y="5715000"/>
            <a:ext cx="34861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00" b="0">
                <a:solidFill>
                  <a:srgbClr val="667085"/>
                </a:solidFill>
              </a:defRPr>
            </a:pPr>
            <a:r>
              <a:rPr sz="900" b="0">
                <a:solidFill>
                  <a:srgbClr val="667085"/>
                </a:solidFill>
              </a:rPr>
              <a:t>Fenêtre de génération du rapport PDF journalier.</a:t>
            </a:r>
          </a:p>
        </p:txBody>
      </p:sp>
      <p:sp>
        <p:nvSpPr>
          <p:cNvPr id="12" name="">
            <a:extLst xmlns:a="http://schemas.openxmlformats.org/drawingml/2006/main">
              <a:ext uri="{FF2B5EF4-FFF2-40B4-BE49-F238E27FC236}">
                <a16:creationId xmlns:a16="http://schemas.microsoft.com/office/drawing/2014/main" id="{3B786BC9-4A70-4325-926F-7ADBF7076C0C}"/>
              </a:ext>
            </a:extLst>
          </p:cNvPr>
          <p:cNvSpPr>
            <a:spLocks xmlns:a="http://schemas.openxmlformats.org/drawingml/2006/main" noGrp="1"/>
          </p:cNvSpPr>
          <p:nvPr/>
        </p:nvSpPr>
        <p:spPr>
          <a:xfrm xmlns:a="http://schemas.openxmlformats.org/drawingml/2006/main">
            <a:off x="7943850" y="1504950"/>
            <a:ext cx="3962400" cy="4667250"/>
          </a:xfrm>
          <a:prstGeom xmlns:a="http://schemas.openxmlformats.org/drawingml/2006/main" prst="roundRect">
            <a:avLst>
              <a:gd name="adj" fmla="val 1923"/>
            </a:avLst>
          </a:prstGeom>
          <a:solidFill xmlns:a="http://schemas.openxmlformats.org/drawingml/2006/main">
            <a:srgbClr val="DCE5F1">
              <a:alpha val="50196"/>
            </a:srgbClr>
          </a:solidFill>
          <a:ln xmlns:a="http://schemas.openxmlformats.org/drawingml/2006/main" w="0">
            <a:solidFill>
              <a:srgbClr val="DCE5F1">
                <a:alpha val="50196"/>
              </a:srgbClr>
            </a:solidFill>
            <a:prstDash val="solid"/>
          </a:ln>
        </p:spPr>
      </p:sp>
      <p:sp>
        <p:nvSpPr>
          <p:cNvPr id="13" name="">
            <a:extLst xmlns:a="http://schemas.openxmlformats.org/drawingml/2006/main">
              <a:ext uri="{FF2B5EF4-FFF2-40B4-BE49-F238E27FC236}">
                <a16:creationId xmlns:a16="http://schemas.microsoft.com/office/drawing/2014/main" id="{F0F0EE9A-B679-46EB-AE5D-D1B68FA74B10}"/>
              </a:ext>
            </a:extLst>
          </p:cNvPr>
          <p:cNvSpPr>
            <a:spLocks xmlns:a="http://schemas.openxmlformats.org/drawingml/2006/main" noGrp="1"/>
          </p:cNvSpPr>
          <p:nvPr/>
        </p:nvSpPr>
        <p:spPr>
          <a:xfrm xmlns:a="http://schemas.openxmlformats.org/drawingml/2006/main">
            <a:off x="7848600" y="1390650"/>
            <a:ext cx="3962400" cy="4667250"/>
          </a:xfrm>
          <a:prstGeom xmlns:a="http://schemas.openxmlformats.org/drawingml/2006/main" prst="roundRect">
            <a:avLst>
              <a:gd name="adj" fmla="val 1923"/>
            </a:avLst>
          </a:prstGeom>
          <a:solidFill xmlns:a="http://schemas.openxmlformats.org/drawingml/2006/main">
            <a:srgbClr val="FFFFFF"/>
          </a:solidFill>
          <a:ln xmlns:a="http://schemas.openxmlformats.org/drawingml/2006/main" w="11430">
            <a:solidFill>
              <a:srgbClr val="D7DFEA"/>
            </a:solidFill>
            <a:prstDash val="solid"/>
          </a:ln>
        </p:spPr>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0b47f9219a04156"/>
          <a:stretch xmlns:a="http://schemas.openxmlformats.org/drawingml/2006/main"/>
        </p:blipFill>
        <p:spPr>
          <a:xfrm xmlns:a="http://schemas.openxmlformats.org/drawingml/2006/main">
            <a:off x="8001000" y="2007624"/>
            <a:ext cx="3657600" cy="3185652"/>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D2E29A64-970A-4A8F-A67D-FE488A5BAEFF}"/>
              </a:ext>
            </a:extLst>
          </p:cNvPr>
          <p:cNvSpPr>
            <a:spLocks xmlns:a="http://schemas.openxmlformats.org/drawingml/2006/main" noGrp="1"/>
          </p:cNvSpPr>
          <p:nvPr/>
        </p:nvSpPr>
        <p:spPr>
          <a:xfrm xmlns:a="http://schemas.openxmlformats.org/drawingml/2006/main">
            <a:off x="8001000" y="5715000"/>
            <a:ext cx="3657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00" b="0">
                <a:solidFill>
                  <a:srgbClr val="667085"/>
                </a:solidFill>
              </a:defRPr>
            </a:pPr>
            <a:r>
              <a:rPr sz="900" b="0">
                <a:solidFill>
                  <a:srgbClr val="667085"/>
                </a:solidFill>
              </a:rPr>
              <a:t>Fenêtre de génération du rapport Excel journalier.</a:t>
            </a:r>
          </a:p>
        </p:txBody>
      </p:sp>
      <p:sp>
        <p:nvSpPr>
          <p:cNvPr id="16" name="">
            <a:extLst xmlns:a="http://schemas.openxmlformats.org/drawingml/2006/main">
              <a:ext uri="{FF2B5EF4-FFF2-40B4-BE49-F238E27FC236}">
                <a16:creationId xmlns:a16="http://schemas.microsoft.com/office/drawing/2014/main" id="{0CA4ABA1-7DED-4BE5-929C-D8B6C0C7D168}"/>
              </a:ext>
            </a:extLst>
          </p:cNvPr>
          <p:cNvSpPr>
            <a:spLocks xmlns:a="http://schemas.openxmlformats.org/drawingml/2006/main" noGrp="1"/>
          </p:cNvSpPr>
          <p:nvPr/>
        </p:nvSpPr>
        <p:spPr>
          <a:xfrm xmlns:a="http://schemas.openxmlformats.org/drawingml/2006/main">
            <a:off x="342900" y="6438900"/>
            <a:ext cx="4953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l">
              <a:defRPr sz="975" b="0">
                <a:solidFill>
                  <a:srgbClr val="667085"/>
                </a:solidFill>
              </a:defRPr>
            </a:pPr>
            <a:r>
              <a:rPr sz="975" b="0">
                <a:solidFill>
                  <a:srgbClr val="667085"/>
                </a:solidFill>
              </a:rPr>
              <a:t>Boulangerie Lomoto  |  Guide utilisateur</a:t>
            </a:r>
          </a:p>
        </p:txBody>
      </p:sp>
      <p:sp>
        <p:nvSpPr>
          <p:cNvPr id="17" name="">
            <a:extLst xmlns:a="http://schemas.openxmlformats.org/drawingml/2006/main">
              <a:ext uri="{FF2B5EF4-FFF2-40B4-BE49-F238E27FC236}">
                <a16:creationId xmlns:a16="http://schemas.microsoft.com/office/drawing/2014/main" id="{3943B256-888A-47CF-B7E8-46BDE1F0A6C5}"/>
              </a:ext>
            </a:extLst>
          </p:cNvPr>
          <p:cNvSpPr>
            <a:spLocks xmlns:a="http://schemas.openxmlformats.org/drawingml/2006/main" noGrp="1"/>
          </p:cNvSpPr>
          <p:nvPr/>
        </p:nvSpPr>
        <p:spPr>
          <a:xfrm xmlns:a="http://schemas.openxmlformats.org/drawingml/2006/main">
            <a:off x="11239500" y="6400800"/>
            <a:ext cx="571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95250" tIns="76200" rIns="95250" bIns="76200" anchor="ctr"/>
          <a:lstStyle xmlns:a="http://schemas.openxmlformats.org/drawingml/2006/main"/>
          <a:p xmlns:a="http://schemas.openxmlformats.org/drawingml/2006/main">
            <a:pPr algn="r">
              <a:defRPr sz="975" b="0">
                <a:solidFill>
                  <a:srgbClr val="667085"/>
                </a:solidFill>
              </a:defRPr>
            </a:pPr>
            <a:r>
              <a:rPr sz="975" b="0">
                <a:solidFill>
                  <a:srgbClr val="667085"/>
                </a:solidFill>
              </a:rPr>
              <a:t>08</a:t>
            </a:r>
          </a:p>
        </p:txBody>
      </p:sp>
    </p:spTree>
    <p:extLst>
      <p:ext uri="{BB962C8B-B14F-4D97-AF65-F5344CB8AC3E}">
        <p14:creationId xmlns:p14="http://schemas.microsoft.com/office/powerpoint/2010/main" val="11340777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2026-05-18T13:14:35.3850000Z</dcterms:created>
  <dcterms:modified xsi:type="dcterms:W3CDTF">2026-05-18T13:14:35.3850000Z</dcterms:modified>
</coreProperties>
</file>